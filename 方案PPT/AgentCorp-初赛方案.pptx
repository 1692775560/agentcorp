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pic>
        <p:nvPicPr>
          <p:cNvPr id="4" name="Picture 3" descr="kv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577840" cy="3113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188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665E"/>
                </a:solidFill>
                <a:latin typeface="Source Han Sans SC"/>
              </a:rPr>
              <a:t>Agent Infra · 新智基座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74519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A1C1E"/>
                </a:solidFill>
                <a:latin typeface="Inter"/>
              </a:rPr>
              <a:t>AgentCorp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52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C1E"/>
                </a:solidFill>
                <a:latin typeface="Source Han Sans SC"/>
              </a:rPr>
              <a:t>Agent 准入与协同治理基座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493008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749039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6B665E"/>
                </a:solidFill>
                <a:latin typeface="Source Han Sans SC"/>
              </a:rPr>
              <a:t>跑分测的是模型，不是你的活。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93776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B8B0A3"/>
                </a:solidFill>
                <a:latin typeface="Source Han Sans SC"/>
              </a:rPr>
              <a:t>初赛 · 方案 PPT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B8B0A3"/>
                </a:solidFill>
                <a:latin typeface="Source Han Sans SC"/>
              </a:rPr>
              <a:t>MIT 开源　|　团队：【请填写】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一页纸速览　|　评分权重 作品简介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一页纸速览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为谁做、解决什么、怎么解、凭什么可信。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0665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066544"/>
            <a:ext cx="45720" cy="117043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2128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C1E"/>
                </a:solidFill>
                <a:latin typeface="Source Han Sans SC"/>
              </a:rPr>
              <a:t>项目名称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5511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AgentCorp：Agent 准入与协同治理基座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20665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2066544"/>
            <a:ext cx="45720" cy="117043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6743" y="22128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C1E"/>
                </a:solidFill>
                <a:latin typeface="Source Han Sans SC"/>
              </a:rPr>
              <a:t>问题与场景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5511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现有跑分测的是模型的通用能力，不是「它能不能替我做这份工作」；而不同来源的 Agent 之间也没有统一的比较标准。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4381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3438144"/>
            <a:ext cx="45720" cy="117043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5844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C1E"/>
                </a:solidFill>
                <a:latin typeface="Source Han Sans SC"/>
              </a:rPr>
              <a:t>核心解决方案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39227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四个分工明确的 Agent 组成一支「准入评审小组」：拆解任务、出题实测、多维评分、拍板放行。高风险动作必须人工点头才执行。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6431" y="34381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6431" y="3438144"/>
            <a:ext cx="45720" cy="1170432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6743" y="35844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Source Han Sans SC"/>
              </a:rPr>
              <a:t>创新点与差异化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3" y="39227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① 同题同标尺的工种实测：所有候选做同一套题，题面内置反注水探针，空话会自己暴露，不看 star 数　② 审批门真实拦截：高风险动作在人点头前执行不了，不是一句提示语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48097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4809744"/>
            <a:ext cx="45720" cy="1170432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49560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6B52"/>
                </a:solidFill>
                <a:latin typeface="Source Han Sans SC"/>
              </a:rPr>
              <a:t>开放 / 复用价值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52943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MIT 开源。评估层、Skill 内核、可观测投影三者可独立取用；已接入 MCP，可挂接任意标准工具服务。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4809744"/>
            <a:ext cx="5208879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6431" y="4809744"/>
            <a:ext cx="45720" cy="1170432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6743" y="4956048"/>
            <a:ext cx="4788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5C76"/>
                </a:solidFill>
                <a:latin typeface="Source Han Sans SC"/>
              </a:rPr>
              <a:t>当前进展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6743" y="5294376"/>
            <a:ext cx="4788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四个 Agent 与五个 Skill 已实现，闭环可离线跑通并导出执行证据；前端 651 项、服务端 282 项自动化测试全绿。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按官方八章组织；右侧百分比为该章对应评分维度的权重。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591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414016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场景与价值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6904" y="24323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852928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727" y="23591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4215" y="2414016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工程落地与安全可审计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9247" y="24323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Inter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852928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0540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0896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方案总览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547872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30540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4215" y="310896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开放 / 开源计划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9247" y="31272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Inter"/>
              </a:rPr>
              <a:t>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3547872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749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803904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多 Agent 协同设计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38221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4242816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7" y="3749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4215" y="3803904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落地计划与进展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8727" y="4242816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4439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4498848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Skill 工程体系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46904" y="451713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4937760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8727" y="44439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8B0A3"/>
                </a:solidFill>
                <a:latin typeface="Inter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4215" y="4498848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C1E"/>
                </a:solidFill>
                <a:latin typeface="Source Han Sans SC"/>
              </a:rPr>
              <a:t>团队介绍 · Demo 视频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8727" y="4937760"/>
            <a:ext cx="5035143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2359152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019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B0A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70048"/>
            <a:ext cx="76456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A1C1E"/>
                </a:solidFill>
                <a:latin typeface="Source Han Sans SC"/>
              </a:rPr>
              <a:t>场景与价值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03320"/>
            <a:ext cx="76456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对应评分维度　场景价值与行业可复制性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23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占总评分权重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第一章 · 场景与价值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跑分测的是模型，不是你的活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现有榜单在标准化题库上比通用能力；而真实工作是杂的、有约束的、要交付的。</a:t>
            </a:r>
          </a:p>
        </p:txBody>
      </p:sp>
      <p:pic>
        <p:nvPicPr>
          <p:cNvPr id="9" name="Picture 8" descr="kv-09-benchmark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604" y="2359152"/>
            <a:ext cx="4884706" cy="27263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" y="2139696"/>
            <a:ext cx="5309463" cy="13716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139696"/>
            <a:ext cx="45720" cy="1371600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313432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榜单世界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88336"/>
            <a:ext cx="485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统一题库、标准答案、单轮问答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衡量的是模型本身的通用能力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换个真实任务，结论不一定还成立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657600"/>
            <a:ext cx="5309463" cy="13716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657600"/>
            <a:ext cx="45720" cy="13716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831336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真实工作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206240"/>
            <a:ext cx="485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需求模糊、约束具体、要能交付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同一个人的活，别人未必这么干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Agent 是模型＋提示＋工具＋流程的组合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157216"/>
            <a:ext cx="5675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C2673F"/>
                </a:solidFill>
                <a:latin typeface="Source Han Sans SC"/>
              </a:rPr>
              <a:t>两个世界之间没有桥：跑分高，不代表能替我做这份工作。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第一章 · 场景与价值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更麻烦的是，Agent 之间没有统一的比较标准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不同来源的 Agent 各说各话，选型只能靠试用直觉、star 数或一句「挺好用」。</a:t>
            </a:r>
          </a:p>
        </p:txBody>
      </p:sp>
      <p:pic>
        <p:nvPicPr>
          <p:cNvPr id="9" name="Picture 8" descr="kv-10-common-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793" y="2478024"/>
            <a:ext cx="4778517" cy="26670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" y="2139696"/>
            <a:ext cx="5309463" cy="129844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139696"/>
            <a:ext cx="45720" cy="1298448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313432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企业侧　主场景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88336"/>
            <a:ext cx="485226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要引入外部或自研 Agent 时无从判断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答不出：能不能上线、出事谁负责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上线之后是否退化，也没人盯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584448"/>
            <a:ext cx="5309463" cy="12070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584448"/>
            <a:ext cx="45720" cy="1207008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758184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个人侧　延伸场景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133088"/>
            <a:ext cx="48522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职场人想找能替自己干活的 Agent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只能看 star 数，新作者天然吃亏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919472"/>
            <a:ext cx="5766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C2673F"/>
                </a:solidFill>
                <a:latin typeface="Source Han Sans SC"/>
              </a:rPr>
              <a:t>两者是同一道题：缺少一把公共的尺子。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AgentCorp 要做的就是这把尺子，以及围绕它的一套准入流程。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第一章 · 场景与价值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把「选型」变成一次有证据的准入评审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像招聘一样：出同一套题、按同一份标准打分、留下可复核的记录、由人拍板。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21408"/>
            <a:ext cx="1647901" cy="493776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准入申请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0589" y="2121408"/>
            <a:ext cx="1647901" cy="493776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0589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任务拆解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4794" y="2121408"/>
            <a:ext cx="1647901" cy="493776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4794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同题实测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121408"/>
            <a:ext cx="1647901" cy="493776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8999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多维评分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3204" y="2121408"/>
            <a:ext cx="1647901" cy="493776"/>
          </a:xfrm>
          <a:prstGeom prst="rect">
            <a:avLst/>
          </a:prstGeom>
          <a:noFill/>
          <a:ln w="11430">
            <a:solidFill>
              <a:srgbClr val="C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3204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2673F"/>
                </a:solidFill>
                <a:latin typeface="Source Han Sans SC"/>
              </a:rPr>
              <a:t>人工审批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7409" y="2121408"/>
            <a:ext cx="1647901" cy="493776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7409" y="2249424"/>
            <a:ext cx="16479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决策 + 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816352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C1E"/>
                </a:solidFill>
                <a:latin typeface="Source Han Sans SC"/>
              </a:rPr>
              <a:t>可量化的能力指标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090672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下列均为可由公开命令复现的系统能力指标，不含未经真实用户验证的业务收益推算。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419856"/>
            <a:ext cx="24901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A1C1E"/>
                </a:solidFill>
                <a:latin typeface="Inter"/>
              </a:rPr>
              <a:t>12 ×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84048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固定题面 × 工种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5979" y="3419856"/>
            <a:ext cx="24901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A1C1E"/>
                </a:solidFill>
                <a:latin typeface="Inter"/>
              </a:rPr>
              <a:t>k 次全达标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5979" y="384048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才判定为通过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5575" y="3419856"/>
            <a:ext cx="24901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C2673F"/>
                </a:solidFill>
                <a:latin typeface="Inter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575" y="384048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高风险动作留痕（无绕过路径）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419856"/>
            <a:ext cx="24901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4A6B52"/>
                </a:solidFill>
                <a:latin typeface="Inter"/>
              </a:rPr>
              <a:t>933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384048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项自动化断言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279392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C1E"/>
                </a:solidFill>
                <a:latin typeface="Source Han Sans SC"/>
              </a:rPr>
              <a:t>这套流程为什么能跨行业复用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4626864"/>
            <a:ext cx="3417722" cy="12070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" y="4626864"/>
            <a:ext cx="45720" cy="1207008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" y="4800600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题库可换，流程不变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" y="5175504"/>
            <a:ext cx="296052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现覆盖写代码 / 写文案 / 做图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新增工种只需补题面与评分要点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6986" y="4626864"/>
            <a:ext cx="3417722" cy="12070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6986" y="4626864"/>
            <a:ext cx="45720" cy="1207008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5586" y="4800600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关卡是共同的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5586" y="5175504"/>
            <a:ext cx="296052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任何行业引入 Agent 都要过准入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都要回答能不能上线、谁负责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7588" y="4626864"/>
            <a:ext cx="3417722" cy="12070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87588" y="4626864"/>
            <a:ext cx="45720" cy="1207008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6188" y="4800600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一个引擎，两种用法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6188" y="5175504"/>
            <a:ext cx="296052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把「谁在用」作为参数传入评估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企业看管理者视角，个人看本人视角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第二章 · 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整体架构：谁来判断、用什么能力、连哪些工具、留什么证据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四层各司其职；换掉任何一层的实现，其余三层不受影响。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21408"/>
            <a:ext cx="7751816" cy="530352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21408"/>
            <a:ext cx="45720" cy="53035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25856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C1E"/>
                </a:solidFill>
                <a:latin typeface="Source Han Sans SC"/>
              </a:rPr>
              <a:t>任务输入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267712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准入申请 / 工单 / 人工发起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743200"/>
            <a:ext cx="7751816" cy="530352"/>
          </a:xfrm>
          <a:prstGeom prst="rect">
            <a:avLst/>
          </a:prstGeom>
          <a:noFill/>
          <a:ln w="1143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" y="2743200"/>
            <a:ext cx="45720" cy="530352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88036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E5C76"/>
                </a:solidFill>
                <a:latin typeface="Source Han Sans SC"/>
              </a:rPr>
              <a:t>协同编排层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889504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任务拆解、上下文传递、状态追踪（对齐 AgentTeams 协同基元）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364992"/>
            <a:ext cx="7751816" cy="530352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3364992"/>
            <a:ext cx="45720" cy="53035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5021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C1E"/>
                </a:solidFill>
                <a:latin typeface="Source Han Sans SC"/>
              </a:rPr>
              <a:t>多 Agent 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3511296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决策 Boss / 编排 Dispatcher / 出题 Recruiter / 评分 Evaluator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986784"/>
            <a:ext cx="7751816" cy="530352"/>
          </a:xfrm>
          <a:prstGeom prst="rect">
            <a:avLst/>
          </a:prstGeom>
          <a:noFill/>
          <a:ln w="11430">
            <a:solidFill>
              <a:srgbClr val="4A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3986784"/>
            <a:ext cx="45720" cy="530352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1239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A6B52"/>
                </a:solidFill>
                <a:latin typeface="Source Han Sans SC"/>
              </a:rPr>
              <a:t>Skill 能力层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33088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把面试、评分、可靠性审计、审批四件事沉淀为可复用能力单元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4608576"/>
            <a:ext cx="7751816" cy="530352"/>
          </a:xfrm>
          <a:prstGeom prst="rect">
            <a:avLst/>
          </a:prstGeom>
          <a:noFill/>
          <a:ln w="11430">
            <a:solidFill>
              <a:srgbClr val="C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4608576"/>
            <a:ext cx="45720" cy="530352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474573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673F"/>
                </a:solidFill>
                <a:latin typeface="Source Han Sans SC"/>
              </a:rPr>
              <a:t>工具连接层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4754880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MCP 客户端（三种传输）+ 本地服务契约 + 可替换的裁判模型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230368"/>
            <a:ext cx="7751816" cy="530352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" y="5230368"/>
            <a:ext cx="45720" cy="530352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3675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C1E"/>
                </a:solidFill>
                <a:latin typeface="Source Han Sans SC"/>
              </a:rPr>
              <a:t>证据与治理层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6624" y="5376672"/>
            <a:ext cx="5648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审批门、审计流水、执行轨迹、经验沉淀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5944" y="2121408"/>
            <a:ext cx="2629366" cy="3639312"/>
          </a:xfrm>
          <a:prstGeom prst="rect">
            <a:avLst/>
          </a:prstGeom>
          <a:noFill/>
          <a:ln w="1143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5944" y="2340864"/>
            <a:ext cx="26293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贯穿全流程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22248" y="2816352"/>
            <a:ext cx="2336758" cy="36576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2248" y="2907792"/>
            <a:ext cx="23367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上下文共享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2248" y="3346704"/>
            <a:ext cx="2336758" cy="36576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22248" y="3438144"/>
            <a:ext cx="23367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执行可回放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22248" y="3877056"/>
            <a:ext cx="2336758" cy="36576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2248" y="3968496"/>
            <a:ext cx="23367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安全与回滚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22248" y="4407408"/>
            <a:ext cx="2336758" cy="36576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2248" y="4498848"/>
            <a:ext cx="23367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裁判可替换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22248" y="4937760"/>
            <a:ext cx="2336758" cy="36576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2248" y="5029200"/>
            <a:ext cx="23367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65E"/>
                </a:solidFill>
                <a:latin typeface="Source Han Sans SC"/>
              </a:rPr>
              <a:t>开源契约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2359152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019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B0A3"/>
                </a:solidFill>
                <a:latin typeface="Inte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70048"/>
            <a:ext cx="76456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A1C1E"/>
                </a:solidFill>
                <a:latin typeface="Source Han Sans SC"/>
              </a:rPr>
              <a:t>多 Agent 协同设计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03320"/>
            <a:ext cx="76456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对应评分维度　多 Agent 协同与自主闭环能力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23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占总评分权重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第三章 · 多 Agent 协同设计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四个分工明确的 Agent，各自的权限写死在代码里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谁能做什么、不能做什么、哪些动作必须人点头——都是程序读取的字段，不是文档描述。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2517571" cy="21214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2121408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Boss　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2060371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提出需求、设定风险偏好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对放行与回滚拍板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把结论沉淀成经验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730752"/>
            <a:ext cx="2060371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82219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C1E"/>
                </a:solidFill>
                <a:latin typeface="Source Han Sans SC"/>
              </a:rPr>
              <a:t>唯一持放行权 · 需人工确认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6835" y="2139696"/>
            <a:ext cx="2517571" cy="21214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6835" y="2139696"/>
            <a:ext cx="45720" cy="2121408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5435" y="231343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Dispatcher　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5435" y="2688336"/>
            <a:ext cx="2060371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把任务拆成子任务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在成员之间传递上下文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追踪状态与轨迹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5435" y="3730752"/>
            <a:ext cx="2060371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5435" y="382219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E5C76"/>
                </a:solidFill>
                <a:latin typeface="Source Han Sans SC"/>
              </a:rPr>
              <a:t>不可绕过 Boss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2139696"/>
            <a:ext cx="2517571" cy="21214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2139696"/>
            <a:ext cx="45720" cy="2121408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231343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Recruiter　出题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688336"/>
            <a:ext cx="2060371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把岗位要求拆成考察维度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组织多轮提问与追问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产出面试记录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5887" y="3730752"/>
            <a:ext cx="2060371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5887" y="382219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6B52"/>
                </a:solidFill>
                <a:latin typeface="Source Han Sans SC"/>
              </a:rPr>
              <a:t>禁止打分与放行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739" y="2139696"/>
            <a:ext cx="2517571" cy="212140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739" y="2139696"/>
            <a:ext cx="45720" cy="2121408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339" y="231343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Evaluator　评分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339" y="2688336"/>
            <a:ext cx="2060371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六个维度＋工种专项评分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重复测量与稳定性检查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00" b="0">
                <a:solidFill>
                  <a:srgbClr val="1A1C1E"/>
                </a:solidFill>
                <a:latin typeface="Source Han Sans SC"/>
              </a:rPr>
              <a:t>· 产出终评报告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6339" y="3730752"/>
            <a:ext cx="2060371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339" y="3822192"/>
            <a:ext cx="20603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673F"/>
                </a:solidFill>
                <a:latin typeface="Source Han Sans SC"/>
              </a:rPr>
              <a:t>禁止放行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517136"/>
            <a:ext cx="24388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交接环节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9790" y="4517136"/>
            <a:ext cx="30759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传递什么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5468" y="4517136"/>
            <a:ext cx="4774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为什么这样设计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4791456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882896"/>
            <a:ext cx="24388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 → Recruiter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9790" y="4882896"/>
            <a:ext cx="30759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岗位要求与风险偏好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5468" y="4882896"/>
            <a:ext cx="477497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出题必须对准真实需求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512064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212080"/>
            <a:ext cx="24388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Recruiter → Evaluator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9790" y="5212080"/>
            <a:ext cx="30759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面试记录与考察维度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5468" y="5212080"/>
            <a:ext cx="477497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评分只依据实际作答，不看来源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544982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5541264"/>
            <a:ext cx="24388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Evaluator → Boss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9790" y="5541264"/>
            <a:ext cx="30759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分数、稳定性、证据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5468" y="5541264"/>
            <a:ext cx="477497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决策者拿到的是证据不是结论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577900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第三章 · 多 Agent 协同设计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以 AgentTeams 为协同设计基点，且这份映射可以被核对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四张角色卡能一键导出为 AgentTeams（开源实现 HiClaw）的声明式配置，逐项对照迁移成本。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30759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AgentTeams / HiClaw 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6926" y="2212848"/>
            <a:ext cx="4562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AgentCorp 对应物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9253" y="2212848"/>
            <a:ext cx="26511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迁移成本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487168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78608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Team　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6926" y="2578608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四张角色卡组成的评审小组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9253" y="2578608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协议适配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78892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880360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TeamAdmin　平台管控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6926" y="2880360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Boss（唯一持放行与回滚权）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9253" y="2880360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协议适配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09067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82112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TeamLeader　协作调度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6926" y="3182112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Dispatcher（拆解、传递、监控）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9253" y="3182112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协议适配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339242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483864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Worker　执行体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6926" y="3483864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Recruiter /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9253" y="3483864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协议适配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694176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785616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Worker 的技能集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6926" y="3785616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Skill 注册表（含权限校验）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9253" y="3785616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协议适配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399592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87368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Matrix　通信底座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6926" y="4087368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网关消息通道 + 执行轨迹落盘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99253" y="4087368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配置替换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429768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389120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Higress　凭证托管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6926" y="4389120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密钥只存在主进程，前端拿不到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9253" y="4389120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配置替换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459943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690872"/>
            <a:ext cx="307595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控制面 reconcile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6926" y="4690872"/>
            <a:ext cx="456259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当前为进程内编排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9253" y="4690872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C2673F"/>
                </a:solidFill>
                <a:latin typeface="Source Han Sans SC"/>
              </a:rPr>
              <a:t>需新增工程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490118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120640"/>
            <a:ext cx="106189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这张表不是手写的：由一条命令从角色卡自动导出，产物是可被解析的标准配置文件。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6B665E"/>
                </a:solidFill>
                <a:latin typeface="Source Han Sans SC"/>
              </a:rPr>
              <a:t>边界：形态已对齐、成本可量化，但尚未在真实控制面上部署——这句话写死在产物首部。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第三章 · 多 Agent 协同设计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一次完整的准入，会留下八步可复核的记录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下表是真实运行输出，不是示意。每一步都标明了「谁做的」和「用了哪个能力」。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13769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7897" y="2212848"/>
            <a:ext cx="1483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执行者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0736" y="2212848"/>
            <a:ext cx="21202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调用的能力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221284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487168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接收任务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7897" y="2578608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0736" y="2578608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0711" y="2578608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收到准入申请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278892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880360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任务拆解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7897" y="2880360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Dispatcher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0736" y="2880360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2880360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拆成 3 步，识别岗位类型为「写代码」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09067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82112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上下文传递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7897" y="3182112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Recruiter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0736" y="3182112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结构化面试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0711" y="3182112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完成实测，交接给评分方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39242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483864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工具调用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27897" y="3483864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Evaluator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0736" y="3483864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多维能力评估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0711" y="3483864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3 次评分全部成功，来源标记为真实裁判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3694176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85616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结果验证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7897" y="3785616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Evaluator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0736" y="3785616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可靠性审计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0711" y="3785616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重复测量全部达标，评分未见异常波动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399592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087368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审批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7897" y="4087368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0736" y="4087368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评审与放行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0711" y="4087368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C2673F"/>
                </a:solidFill>
                <a:latin typeface="Source Han Sans SC"/>
              </a:rPr>
              <a:t>结论「录用」，但已被审批门拦下，动作未执行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" y="429768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4389120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证据沉淀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7897" y="4389120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Dispatcher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20736" y="4389120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4389120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六步执行轨迹已落盘，可回放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459943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690872"/>
            <a:ext cx="13769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经验沉淀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7897" y="4690872"/>
            <a:ext cx="148311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20736" y="4690872"/>
            <a:ext cx="212024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评审与放行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50711" y="4690872"/>
            <a:ext cx="51997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最弱项＝产出质量，下一轮定向追问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" y="490118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" y="4974336"/>
            <a:ext cx="10618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4A6B52"/>
                </a:solidFill>
                <a:latin typeface="Source Han Sans SC"/>
              </a:rPr>
              <a:t>经验会被复用：同一候选第二次评审时，上一轮的薄弱项会自动进入提问上下文——这一点在实跑输出中可见。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第三章 · 多 Agent 协同设计　|　评分权重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「需要人工确认」不该只是一句提示语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在我们这里，高风险动作在人点头之前，真的执行不了。</a:t>
            </a:r>
          </a:p>
        </p:txBody>
      </p:sp>
      <p:pic>
        <p:nvPicPr>
          <p:cNvPr id="9" name="Picture 8" descr="kv-02-approval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26" y="2249424"/>
            <a:ext cx="5097084" cy="2844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" y="2139696"/>
            <a:ext cx="5097084" cy="138988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139696"/>
            <a:ext cx="45720" cy="1389888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313432"/>
            <a:ext cx="46398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拦下来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88336"/>
            <a:ext cx="46398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判定为高风险 → 动作不执行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整个流程挂起，等待人工决定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人点「放行」之后，动作才发生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694176"/>
            <a:ext cx="5097084" cy="138988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694176"/>
            <a:ext cx="45720" cy="1389888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867912"/>
            <a:ext cx="46398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撤得回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242816"/>
            <a:ext cx="46398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已执行的动作按相反顺序逐条撤销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某一条撤不掉，会明确报出来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不假装「已完全回滚」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248656"/>
            <a:ext cx="56457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实跑证据：判定「录用」之后，录用台账里是 0 条记录——它没敢自己录用。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2359152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019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B0A3"/>
                </a:solidFill>
                <a:latin typeface="Inter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70048"/>
            <a:ext cx="76456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A1C1E"/>
                </a:solidFill>
                <a:latin typeface="Source Han Sans SC"/>
              </a:rPr>
              <a:t>Skill 工程体系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03320"/>
            <a:ext cx="76456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对应评分维度　Skill 工程体系与生态复用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23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C2673F"/>
                </a:solidFill>
                <a:latin typeface="Inter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占总评分权重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第四章 · Skill 工程体系　|　评分权重 25%（必选项）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把反复要做的事，沉淀成能被反复调用的能力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Skill 不是某个 Agent 的一次性行为，而是独立注册、可被任何成员调用、可整体替换的能力单元。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19078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能力单元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8844" y="2212848"/>
            <a:ext cx="12707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谁在用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9304" y="2212848"/>
            <a:ext cx="3288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7361" y="2212848"/>
            <a:ext cx="37130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失败时怎么办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487168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9078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结构化面试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8844" y="2578608"/>
            <a:ext cx="12707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Recruiter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9304" y="2578608"/>
            <a:ext cx="32883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按考察维度多轮提问并追问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7361" y="2578608"/>
            <a:ext cx="371308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无有效作答就如实交白卷，不替它编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283464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926080"/>
            <a:ext cx="19078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多维能力评估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8844" y="2926080"/>
            <a:ext cx="12707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Evaluator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9304" y="2926080"/>
            <a:ext cx="32883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六个维度＋工种专项打分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7361" y="2926080"/>
            <a:ext cx="371308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裁判不可用就标记「未评」，绝不造分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18211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273552"/>
            <a:ext cx="19078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可靠性审计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8844" y="3273552"/>
            <a:ext cx="12707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Evaluator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9304" y="3273552"/>
            <a:ext cx="32883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重复测量，检查结论稳不稳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7361" y="3273552"/>
            <a:ext cx="371308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样本不足则降级，不下硬结论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52958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621024"/>
            <a:ext cx="19078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评审与放行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8844" y="3621024"/>
            <a:ext cx="12707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Boss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9304" y="3621024"/>
            <a:ext cx="32883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综合证据给出处置建议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7361" y="3621024"/>
            <a:ext cx="371308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输入不完整就强制转人工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3877056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968496"/>
            <a:ext cx="19078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编排调度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8844" y="3968496"/>
            <a:ext cx="12707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Dispatcher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9304" y="3968496"/>
            <a:ext cx="32883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拆任务、聚合上下文、记轨迹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7361" y="3968496"/>
            <a:ext cx="371308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子任务超时就回写失败，不静默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422452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315968"/>
            <a:ext cx="106189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A1C1E"/>
                </a:solidFill>
                <a:latin typeface="Source Han Sans SC"/>
              </a:rPr>
              <a:t>共同的铁律：任何一个能力单元出问题，都不会让整条流程崩掉，而是带着「我失败了、为什么」继续往下走。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828032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65E"/>
                </a:solidFill>
                <a:latin typeface="Source Han Sans SC"/>
              </a:rPr>
              <a:t>每个能力单元都声明九项契约：用途、输入、输出、触发条件、依赖、失败处理、安全边界、复用价值、协同关系。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第四章 · Skill 工程体系　|　评分权重 25%（必选项）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单个能力单元长什么样：以「多维能力评估」为例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每个能力单元都按同一份契约声明九项内容，注册时按同一 schema 校验。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3969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2139696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多维能力评估（capability_assessment）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468880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2542032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对候选 Agent 的实测作答按六个通用维度 + 工种专项维度打分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871216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4436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3704" y="2944368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实测作答记录、使用者画像、面试报告、重复评测次数 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273552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3467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3704" y="3346704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每次评分结果、均值、综合判定、置信度，以及分数来源标注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675888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490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触发条件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3704" y="3749040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收到出题方的面试报告后自动触发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4078224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15137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4151376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裁判后端、多次评分聚合器、维度注册表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480560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5537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失败处理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3704" y="4553712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2673F"/>
                </a:solidFill>
                <a:latin typeface="Source Han Sans SC"/>
              </a:rPr>
              <a:t>裁判超时或报错即标记为「未评」并注明来源，绝不生成推测分数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4882896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95604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安全边界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3704" y="4956048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2673F"/>
                </a:solidFill>
                <a:latin typeface="Source Han Sans SC"/>
              </a:rPr>
              <a:t>只读作答内容，不修改候选；置信度不足强制标注；降级结果不进经验库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5285232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35838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65E"/>
                </a:solidFill>
                <a:latin typeface="Source Han Sans SC"/>
              </a:rPr>
              <a:t>复用价值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03704" y="5358384"/>
            <a:ext cx="9201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维度体系与抗偏差机制可独立用于任何「模型当裁判」的场景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" y="5687568"/>
            <a:ext cx="10618927" cy="0"/>
          </a:xfrm>
          <a:prstGeom prst="rect">
            <a:avLst/>
          </a:prstGeom>
          <a:noFill/>
          <a:ln w="635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第四章 · Skill 工程体系　|　评分权重 25%（必选项）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能装上，也能干净地卸下来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能力单元支持注册、覆盖、注销全过程可逆——这是它能被别的项目安全复用的前提。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3417722" cy="18288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18288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29605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注册时返回一个「卸载凭证」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卸载即自动清理副作用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可临时覆盖，撤销后自动还原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43814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52958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E5C76"/>
                </a:solidFill>
                <a:latin typeface="Source Han Sans SC"/>
              </a:rPr>
              <a:t>装卸可逆，不留残留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6986" y="2139696"/>
            <a:ext cx="3417722" cy="18288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6986" y="2139696"/>
            <a:ext cx="45720" cy="1828800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5586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复用方式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586" y="2688336"/>
            <a:ext cx="29605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同类能力可替换实现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新增角色无需改动既有代码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评估能力可被其他项目单独取用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5586" y="343814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52958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6B52"/>
                </a:solidFill>
                <a:latin typeface="Source Han Sans SC"/>
              </a:rPr>
              <a:t>能力抽象，非行为脚本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2139696"/>
            <a:ext cx="3417722" cy="18288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7588" y="2139696"/>
            <a:ext cx="45720" cy="18288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6188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接入外部生态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188" y="2688336"/>
            <a:ext cx="29605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已接入 MCP 工具协议客户端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支持三种主流连接方式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可直接挂接官方与第三方工具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6188" y="343814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6188" y="352958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673F"/>
                </a:solidFill>
                <a:latin typeface="Source Han Sans SC"/>
              </a:rPr>
              <a:t>接入是配置，不是改造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242816"/>
            <a:ext cx="26511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工具接入方向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169" y="4242816"/>
            <a:ext cx="15893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现状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1197" y="4242816"/>
            <a:ext cx="6049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说明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517136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6"/>
            <a:ext cx="265119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调用外部工具服务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169" y="4608576"/>
            <a:ext cx="15893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4A6B52"/>
                </a:solidFill>
                <a:latin typeface="Source Han Sans SC"/>
              </a:rPr>
              <a:t>已实现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1197" y="4608576"/>
            <a:ext cx="604924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支持标准 MCP 服务，启动时自动发现可用工具并注入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486460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956048"/>
            <a:ext cx="265119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把自身能力发布为工具服务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2169" y="4956048"/>
            <a:ext cx="15893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后续工程项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1197" y="4956048"/>
            <a:ext cx="604924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接口契约已定义完整，属协议适配而非重新设计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521208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2359152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019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B0A3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70048"/>
            <a:ext cx="76456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A1C1E"/>
                </a:solidFill>
                <a:latin typeface="Source Han Sans SC"/>
              </a:rPr>
              <a:t>工程落地与安全可审计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03320"/>
            <a:ext cx="76456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对应评分维度　工程落地与安全可审计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23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C2673F"/>
                </a:solidFill>
                <a:latin typeface="Inter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占总评分权重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第五章 · 工程落地与安全可审计　|　评分权重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让模型当裁判，就得先解决「裁判自己靠不靠谱」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同一份答案让模型连打三次，分数常常不一样。所以我们不采信单次打分。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5208879" cy="148132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1481328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重复测量，取严不取宽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47516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同一份答案独立评多次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每一次都达标才算真达标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只要有一次掉下来，就不算可靠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090672"/>
            <a:ext cx="4751679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18211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C1E"/>
                </a:solidFill>
                <a:latin typeface="Source Han Sans SC"/>
              </a:rPr>
              <a:t>业界称为 pass^k：k 次全过才算过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2139696"/>
            <a:ext cx="5208879" cy="148132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6431" y="2139696"/>
            <a:ext cx="45720" cy="1481328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031" y="231343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打分打飘了要能发现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031" y="2688336"/>
            <a:ext cx="47516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检查多次评分之间的离散程度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波动过大就下调置信度并转人工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同时检查评分的一致性水平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5031" y="3090672"/>
            <a:ext cx="4751679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318211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673F"/>
                </a:solidFill>
                <a:latin typeface="Source Han Sans SC"/>
              </a:rPr>
              <a:t>一致性低 = 结论不稳，不是分数低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785616"/>
            <a:ext cx="5208879" cy="13716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3785616"/>
            <a:ext cx="45720" cy="1371600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95935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抵抗常见偏见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34256"/>
            <a:ext cx="4751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每轮打乱维度顺序，避免顺序影响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明确要求「不因回答长就给高分」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评分锚点固定，减少主观漂移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6431" y="3785616"/>
            <a:ext cx="5208879" cy="137160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6431" y="3785616"/>
            <a:ext cx="45720" cy="13716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5031" y="3959352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分数来源必须标清楚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5031" y="4334256"/>
            <a:ext cx="4751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真实裁判 / 部分降级 / 完全降级 三态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降级产生的结论不进入经验库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宁可标「未评」，也不填一个数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30352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Source Han Sans SC"/>
              </a:rPr>
              <a:t>我们只主张「测得稳」，不主张「测得准」——后者需要长期数据验证，见第七章。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第五章 · 工程落地与安全可审计　|　评分权重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所有数字都能用一条命令复现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验证报告由脚本生成，不是手写；每次改动都会重新跑一遍。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76272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A1C1E"/>
                </a:solidFill>
                <a:latin typeface="Inter"/>
              </a:rPr>
              <a:t>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5176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前端自动化测试通过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979" y="2176272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A1C1E"/>
                </a:solidFill>
                <a:latin typeface="Inter"/>
              </a:rPr>
              <a:t>282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979" y="265176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服务端测试通过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5575" y="2176272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C2673F"/>
                </a:solidFill>
                <a:latin typeface="Inter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265176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多 Agent 协同专项断言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171" y="2176272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4A6B52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171" y="2651760"/>
            <a:ext cx="2490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65E"/>
                </a:solidFill>
                <a:latin typeface="Source Han Sans SC"/>
              </a:rPr>
              <a:t>类型与规范检查错误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218688"/>
            <a:ext cx="4672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C1E"/>
                </a:solidFill>
                <a:latin typeface="Source Han Sans SC"/>
              </a:rPr>
              <a:t>四条命令跑完全流程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46723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C1E"/>
                </a:solidFill>
                <a:latin typeface="Inter"/>
              </a:rPr>
              <a:t>› pnpm install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C1E"/>
                </a:solidFill>
                <a:latin typeface="Inter"/>
              </a:rPr>
              <a:t>› pnpm web  →  打开演示页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C1E"/>
                </a:solidFill>
                <a:latin typeface="Inter"/>
              </a:rPr>
              <a:t>› pnpm verify  →  三道门禁 + 出报告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C1E"/>
                </a:solidFill>
                <a:latin typeface="Inter"/>
              </a:rPr>
              <a:t>› pnpm agentteams:export  →  导出协同配置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3310128"/>
            <a:ext cx="3182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门禁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2578" y="3310128"/>
            <a:ext cx="19078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3584448"/>
            <a:ext cx="5309463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0711" y="3675888"/>
            <a:ext cx="31821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类型检查（双配置）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2578" y="3675888"/>
            <a:ext cx="19078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通过 · 0 错误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3913632"/>
            <a:ext cx="5309463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0711" y="4005072"/>
            <a:ext cx="31821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多 Agent 协同专项（9 个文件）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2578" y="4005072"/>
            <a:ext cx="19078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通过 · 66 项断言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4242816"/>
            <a:ext cx="5309463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0711" y="4334256"/>
            <a:ext cx="31821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隐私扫描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2578" y="4334256"/>
            <a:ext cx="19078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通过 · 零命中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847" y="4572000"/>
            <a:ext cx="5309463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0711" y="4663440"/>
            <a:ext cx="31821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自动生成验证报告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2578" y="4663440"/>
            <a:ext cx="19078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已产出，随代码提交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5847" y="4901184"/>
            <a:ext cx="5309463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第五章 · 工程落地与安全可审计　|　评分权重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每一步都留痕，且用的是行业通用字段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执行轨迹按 OpenTelemetry 的生成式 AI 语义规范投影，可接入任意兼容的观测后端。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26936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我们记录的内容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4644" y="2212848"/>
            <a:ext cx="3458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对应的标准字段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487168"/>
            <a:ext cx="6371356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78608"/>
            <a:ext cx="26936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执行者名称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4644" y="2578608"/>
            <a:ext cx="34582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gen_ai.agent.name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816352"/>
            <a:ext cx="6371356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907792"/>
            <a:ext cx="26936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执行者角色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4644" y="2907792"/>
            <a:ext cx="34582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gen_ai.agent.role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145536"/>
            <a:ext cx="6371356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236976"/>
            <a:ext cx="26936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一次运行的关联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4644" y="3236976"/>
            <a:ext cx="34582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gen_ai.conversation.id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474720"/>
            <a:ext cx="6371356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566160"/>
            <a:ext cx="26936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调用了哪个能力单元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644" y="3566160"/>
            <a:ext cx="34582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gen_ai.operation.name = invoke_skill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803904"/>
            <a:ext cx="6371356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895344"/>
            <a:ext cx="26936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token 用量与成本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4644" y="3895344"/>
            <a:ext cx="34582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gen_ai.usage.input_tokens / output_tokens /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133088"/>
            <a:ext cx="6371356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2497" y="2121408"/>
            <a:ext cx="3822813" cy="1298448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2497" y="2121408"/>
            <a:ext cx="45720" cy="1298448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1097" y="2295144"/>
            <a:ext cx="3365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两条轨迹，同一口径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1097" y="2670048"/>
            <a:ext cx="336561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演示闭环：每次运行落一份可回放记录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主进程：Agent 之间的委派链另存一份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两者可互相投影，成本归因口径一致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2497" y="3566160"/>
            <a:ext cx="3822813" cy="1170432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2497" y="3566160"/>
            <a:ext cx="45720" cy="1170432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1097" y="3739896"/>
            <a:ext cx="3365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1097" y="4114800"/>
            <a:ext cx="336561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标准字段已对齐并有测试覆盖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接入观测后端为后续工程项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114800"/>
            <a:ext cx="63713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检索链路：评估证据只取自本次运行的实测轨迹，不做跨候选检索兜底——避免用别人的表现给当前候选打分。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第五章 · 工程落地与安全可审计　|　评分权重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系统出错时的反应，比它顺利时的表现更值得看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每一种失败都有明确的降级方式，且都会如实标注，不会静默吞掉。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26511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出了什么问题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169" y="2212848"/>
            <a:ext cx="43502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系统怎么做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2118" y="2212848"/>
            <a:ext cx="3288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对结论的影响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487168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78608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裁判模型不可用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169" y="2578608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C2673F"/>
                </a:solidFill>
                <a:latin typeface="Source Han Sans SC"/>
              </a:rPr>
              <a:t>标注「未评」，不生成任何分数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2118" y="2578608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结论标记为不可用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78892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880360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多次评分结论不一致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169" y="2880360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3E5C76"/>
                </a:solidFill>
                <a:latin typeface="Source Han Sans SC"/>
              </a:rPr>
              <a:t>取多数裁决，并按离散程度下调置信度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2118" y="2880360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离散过大则转人工复核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090672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82112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某个能力单元报错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169" y="3182112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返回失败原因，流程继续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2118" y="3182112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该步标记为告警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339242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483864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越权调用他人能力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169" y="3483864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直接拒绝并说明边界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2118" y="3483864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阻断，不执行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694176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785616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决策输入不完整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169" y="3785616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强制转人工，不自动决策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2118" y="3785616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不产出自动结论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3995928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87368"/>
            <a:ext cx="2651193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回滚时有一条撤不掉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2169" y="4087368"/>
            <a:ext cx="4350221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C2673F"/>
                </a:solidFill>
                <a:latin typeface="Source Han Sans SC"/>
              </a:rPr>
              <a:t>如实报出「只回滚了一部分」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2118" y="4087368"/>
            <a:ext cx="32883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明确提示需人工介入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4297680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" y="4279392"/>
            <a:ext cx="5208879" cy="118872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" y="4279392"/>
            <a:ext cx="45720" cy="1188720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" y="4453128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安全边界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4828032"/>
            <a:ext cx="475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密钥只存在于主进程，前端拿不到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本地接口逐请求鉴权，未授权直接拒绝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题库接口不返回参考答案，防止刷题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6431" y="4279392"/>
            <a:ext cx="5208879" cy="118872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6431" y="4279392"/>
            <a:ext cx="45720" cy="11887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5031" y="4453128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云服务选型：必要性与边界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5031" y="4828032"/>
            <a:ext cx="475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裁判走通用协议，可直接指向云端模型服务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不绑定单一模型，是为了避免「自己给自己打高分」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换服务只改配置，评分逻辑不动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第六章 · 开放 / 开源计划　|　评分权重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开源的不是一个演示，是三个能被单独取用的部件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任何做 Agent 评估的团队都可以只拿走其中一个，而不必接受整套方案。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3417722" cy="173736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1737360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评估方法层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29605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重复测量与稳定性检查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评分偏差与一致性审计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抗偏见的评分提示词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34670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43814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6B52"/>
                </a:solidFill>
                <a:latin typeface="Source Han Sans SC"/>
              </a:rPr>
              <a:t>适用于任何模型当裁判的场景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6986" y="2139696"/>
            <a:ext cx="3417722" cy="173736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6986" y="2139696"/>
            <a:ext cx="45720" cy="173736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5586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能力注册内核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586" y="2688336"/>
            <a:ext cx="29605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可注册、可覆盖、可注销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同类能力可替换实现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与具体框架解耦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5586" y="334670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43814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E5C76"/>
                </a:solidFill>
                <a:latin typeface="Source Han Sans SC"/>
              </a:rPr>
              <a:t>可移植到其他 Agent 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2139696"/>
            <a:ext cx="3417722" cy="173736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7588" y="2139696"/>
            <a:ext cx="45720" cy="173736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6188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可观测投影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188" y="2688336"/>
            <a:ext cx="29605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自有轨迹 → 行业标准字段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纯函数、零依赖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可接任意兼容的观测后端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6188" y="3346704"/>
            <a:ext cx="2960522" cy="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6188" y="3438144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673F"/>
                </a:solidFill>
                <a:latin typeface="Source Han Sans SC"/>
              </a:rPr>
              <a:t>不锁定观测供应商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151375"/>
            <a:ext cx="2014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开放项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5033" y="4151375"/>
            <a:ext cx="83854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内容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4425695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517135"/>
            <a:ext cx="2014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开源协议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5033" y="4517135"/>
            <a:ext cx="838541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4754879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46319"/>
            <a:ext cx="2014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接口契约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5033" y="4846319"/>
            <a:ext cx="838541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工具调用契约：参数结构、鉴权、错误约定、审计要求、迁移步骤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" y="5084063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175503"/>
            <a:ext cx="2014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可核对产物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5033" y="5175503"/>
            <a:ext cx="838541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协同配置清单可一键导出；执行轨迹可回放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5413247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504687"/>
            <a:ext cx="2014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第三方依赖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5033" y="5504687"/>
            <a:ext cx="838541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前端 React 生态、桌面端 Electron、服务端 FastAPI；均为各自开源协议，无私有依赖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5742431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833871"/>
            <a:ext cx="2014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后续计划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65033" y="5833871"/>
            <a:ext cx="838541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把自身能力发布为标准工具服务；公开评估有效性的验证结果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6071615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第七章 · 落地计划与进展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当前进展：能跑、能验、能复现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初赛不强制提交可运行代码，我们仍然选择用可复现的运行证据说话。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3417722" cy="210312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2103120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296052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四个 Agent、五个能力单元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八步闭环可离线跑通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审批门与回滚可用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协同配置一键导出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外部工具协议已接入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651 + 282 项测试全绿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6986" y="2139696"/>
            <a:ext cx="3417722" cy="210312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6986" y="2139696"/>
            <a:ext cx="45720" cy="2103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进行中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586" y="2688336"/>
            <a:ext cx="296052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治理层与执行层端到端打通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接入标准观测后端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扩充工种题库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注水对照集纳入持续集成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7588" y="2139696"/>
            <a:ext cx="3417722" cy="2103120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7588" y="2139696"/>
            <a:ext cx="45720" cy="21031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下一阶段核心目标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6188" y="2688336"/>
            <a:ext cx="296052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验证准入评分能否预测真实表现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能预测 → 固化维度权重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不能预测 → 公开结果并重做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把能力发布为标准工具服务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43984"/>
            <a:ext cx="106189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673F"/>
                </a:solidFill>
                <a:latin typeface="Source Han Sans SC"/>
              </a:rPr>
              <a:t>我们承诺公开负面结果：如果某个评分维度对真实交付没有预测力，会明说并调整。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第七章 · 落地计划与进展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我们没做什么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一个说不清自己边界的评估系统，本身就不值得信任。</a:t>
            </a:r>
          </a:p>
        </p:txBody>
      </p:sp>
      <p:pic>
        <p:nvPicPr>
          <p:cNvPr id="9" name="Picture 8" descr="kv-07-honest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793" y="2432304"/>
            <a:ext cx="4778517" cy="26670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2212848"/>
            <a:ext cx="14066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7630" y="2212848"/>
            <a:ext cx="378954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实际情况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487168"/>
            <a:ext cx="5415652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78608"/>
            <a:ext cx="14066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重复测量的含义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7630" y="2578608"/>
            <a:ext cx="37895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目前测的是「裁判稳不稳」，还不是「Agent 干活稳不稳」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944368"/>
            <a:ext cx="5415652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35808"/>
            <a:ext cx="14066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稳 ≠ 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7630" y="3035808"/>
            <a:ext cx="37895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稳定不等于正确；我们目前只主张前者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401568"/>
            <a:ext cx="5415652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93008"/>
            <a:ext cx="14066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协同框架集成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7630" y="3493008"/>
            <a:ext cx="37895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配置形态已对齐，尚未在真实控制面部署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858768"/>
            <a:ext cx="5415652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50208"/>
            <a:ext cx="14066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可观测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7630" y="3950208"/>
            <a:ext cx="37895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标准字段已对齐，尚未接入观测后端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4315968"/>
            <a:ext cx="5415652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07408"/>
            <a:ext cx="14066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适用范围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7630" y="4407408"/>
            <a:ext cx="37895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只用一次、只有一个候选时，这套流程是额外开销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4773168"/>
            <a:ext cx="5415652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809744"/>
            <a:ext cx="54156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风险控制：高风险动作需人确认；降级结论不入库；自动决策都能回滚并留痕。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7433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第八章 · 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2271" y="365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8B0A3"/>
                </a:solidFill>
                <a:latin typeface="Inter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22960"/>
            <a:ext cx="9981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C1E"/>
                </a:solidFill>
                <a:latin typeface="Source Han Sans SC"/>
              </a:rPr>
              <a:t>团队介绍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408176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95570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65E"/>
                </a:solidFill>
                <a:latin typeface="Source Han Sans SC"/>
              </a:rPr>
              <a:t>请按官方要求填写：成员背景、分工、过往成果。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39696"/>
            <a:ext cx="3417722" cy="1874519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39696"/>
            <a:ext cx="45720" cy="1874519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C1E"/>
                </a:solidFill>
                <a:latin typeface="Source Han Sans SC"/>
              </a:rPr>
              <a:t>【成员一 · 角色】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688336"/>
            <a:ext cx="296052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学校 / 公司：【填写】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岗位 / 专业：【填写】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核心技能：【技术 / 专业领域】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本项目分工：【填写】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6986" y="2139696"/>
            <a:ext cx="3417722" cy="1874519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6986" y="2139696"/>
            <a:ext cx="45720" cy="187451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E5C76"/>
                </a:solidFill>
                <a:latin typeface="Source Han Sans SC"/>
              </a:rPr>
              <a:t>【成员二 · 角色】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586" y="2688336"/>
            <a:ext cx="296052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学校 / 公司：【填写】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岗位 / 专业：【填写】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核心技能：【技术 / 专业领域】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本项目分工：【填写】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7588" y="2139696"/>
            <a:ext cx="3417722" cy="1874519"/>
          </a:xfrm>
          <a:prstGeom prst="rect">
            <a:avLst/>
          </a:prstGeom>
          <a:noFill/>
          <a:ln w="9525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7588" y="2139696"/>
            <a:ext cx="45720" cy="1874519"/>
          </a:xfrm>
          <a:prstGeom prst="rect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2313432"/>
            <a:ext cx="2960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6B52"/>
                </a:solidFill>
                <a:latin typeface="Source Han Sans SC"/>
              </a:rPr>
              <a:t>【成员三 · 角色】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6188" y="2688336"/>
            <a:ext cx="296052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学校 / 公司：【填写】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岗位 / 专业：【填写】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核心技能：【技术 / 专业领域】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0">
                <a:solidFill>
                  <a:srgbClr val="1A1C1E"/>
                </a:solidFill>
                <a:latin typeface="Source Han Sans SC"/>
              </a:rPr>
              <a:t>· 本项目分工：【填写】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06824"/>
            <a:ext cx="2014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5033" y="4306824"/>
            <a:ext cx="83854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65E"/>
                </a:solidFill>
                <a:latin typeface="Source Han Sans SC"/>
              </a:rPr>
              <a:t>内容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4581144"/>
            <a:ext cx="10618927" cy="0"/>
          </a:xfrm>
          <a:prstGeom prst="rect">
            <a:avLst/>
          </a:prstGeom>
          <a:noFill/>
          <a:ln w="1270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672584"/>
            <a:ext cx="20140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团队成果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5033" y="4672584"/>
            <a:ext cx="83854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【过往项目经历 / 获奖经历】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94690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38344"/>
            <a:ext cx="20140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作品合集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5033" y="5038344"/>
            <a:ext cx="83854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【作品集或个人主页链接】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31266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404104"/>
            <a:ext cx="20140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代码仓库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5033" y="5404104"/>
            <a:ext cx="83854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A1C1E"/>
                </a:solidFill>
                <a:latin typeface="Source Han Sans SC"/>
              </a:rPr>
              <a:t>【仓库地址】（MIT 开源）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5678424"/>
            <a:ext cx="10618927" cy="0"/>
          </a:xfrm>
          <a:prstGeom prst="rect">
            <a:avLst/>
          </a:prstGeom>
          <a:noFill/>
          <a:ln w="7620">
            <a:solidFill>
              <a:srgbClr val="B8B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355080"/>
            <a:ext cx="10618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B0A3"/>
                </a:solidFill>
                <a:latin typeface="Source Han Sans SC"/>
              </a:rPr>
              <a:t>AgentCorp · Agent 准入与协同治理基座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68880"/>
            <a:ext cx="7433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6B665E"/>
                </a:solidFill>
                <a:latin typeface="Source Han Sans SC"/>
              </a:rPr>
              <a:t>跑分测的是模型，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A1C1E"/>
                </a:solidFill>
                <a:latin typeface="Source Han Sans SC"/>
              </a:rPr>
              <a:t>我们想测的是，它能不能替你做这份工作。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4114800"/>
            <a:ext cx="548640" cy="3302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4389120"/>
            <a:ext cx="7433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65E"/>
                </a:solidFill>
                <a:latin typeface="Source Han Sans SC"/>
              </a:rPr>
              <a:t>AgentCorp · MIT 开源　|　评估方法、能力内核、观测投影均可单独取用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