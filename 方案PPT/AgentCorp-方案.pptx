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3" d="100"/>
          <a:sy n="93" d="100"/>
        </p:scale>
        <p:origin x="82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9" name="Picture 8" descr="d01-co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0" y="2418276"/>
            <a:ext cx="5760720" cy="19300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26345" y="1572768"/>
            <a:ext cx="48463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  <a:endParaRPr sz="2400" b="1" dirty="0">
              <a:solidFill>
                <a:srgbClr val="6B6250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68680" y="2121408"/>
            <a:ext cx="5394960" cy="12208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为你的工作流</a:t>
            </a:r>
            <a:r>
              <a:rPr sz="38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，</a:t>
            </a:r>
          </a:p>
          <a:p>
            <a:pPr>
              <a:spcAft>
                <a:spcPts val="0"/>
              </a:spcAft>
            </a:pPr>
            <a:r>
              <a:rPr sz="38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招一支合得来的团队</a:t>
            </a:r>
            <a:endParaRPr sz="38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68680" y="3803904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4096512"/>
            <a:ext cx="5120640" cy="311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300"/>
              </a:spcAft>
            </a:pPr>
            <a:r>
              <a:rPr sz="155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不选最强的</a:t>
            </a:r>
            <a:r>
              <a:rPr sz="155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 </a:t>
            </a:r>
            <a:r>
              <a:rPr sz="155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Agent，选最合得来的那一个</a:t>
            </a:r>
            <a:r>
              <a:rPr sz="155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285232"/>
            <a:ext cx="5120640" cy="3847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dirty="0" err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面向企业与个人的</a:t>
            </a:r>
            <a:r>
              <a:rPr sz="1150" b="0" dirty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 Agent </a:t>
            </a:r>
            <a:r>
              <a:rPr sz="1150" b="0" dirty="0" err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适配与协同平台</a:t>
            </a:r>
            <a:r>
              <a:rPr sz="1150" b="0" dirty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　·　</a:t>
            </a:r>
            <a:r>
              <a:rPr sz="1150" b="0" dirty="0" err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数字人事部</a:t>
            </a:r>
            <a:endParaRPr sz="1150" b="0" dirty="0">
              <a:solidFill>
                <a:srgbClr val="C9BFAC"/>
              </a:solidFill>
              <a:latin typeface="阿里妈妈刀隶体" pitchFamily="2" charset="-122"/>
              <a:ea typeface="阿里妈妈刀隶体" pitchFamily="2" charset="-122"/>
            </a:endParaRPr>
          </a:p>
          <a:p>
            <a:pPr>
              <a:spcAft>
                <a:spcPts val="0"/>
              </a:spcAft>
            </a:pPr>
            <a:r>
              <a:rPr sz="1100" b="0" dirty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MIT </a:t>
            </a:r>
            <a:r>
              <a:rPr sz="1100" b="0" dirty="0" err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开源</a:t>
            </a:r>
            <a:r>
              <a:rPr sz="1100" b="0" dirty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　|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一页纸速览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5429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一页纸速览</a:t>
            </a:r>
            <a:endParaRPr sz="32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26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为谁做、解决什么、怎么解、凭什么可信。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" y="2107692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27532" y="2025396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68680" y="2066544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1124712" y="2313432"/>
            <a:ext cx="91440" cy="91440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289304" y="2258568"/>
            <a:ext cx="447735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项目名称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615184"/>
            <a:ext cx="4605375" cy="2094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sz="11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AgentCorp：Agent 适配与协同平台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6723" y="2107692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164427" y="2025396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205575" y="2066544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6461607" y="2313432"/>
            <a:ext cx="91440" cy="91440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626199" y="2258568"/>
            <a:ext cx="447735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问题与场景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1607" y="2615184"/>
            <a:ext cx="4605375" cy="4396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sz="11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Agent 的供给在爆发，选型的依据却没有跟上。跑分衡量的是模型的通用能力，回答不了「它能不能融进我这条工作流」。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28" y="3552444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827532" y="3470148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868680" y="3511296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4" name="Oval 23"/>
          <p:cNvSpPr/>
          <p:nvPr/>
        </p:nvSpPr>
        <p:spPr>
          <a:xfrm>
            <a:off x="1124712" y="3758184"/>
            <a:ext cx="91440" cy="91440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289304" y="3703320"/>
            <a:ext cx="447735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核心解决方案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" y="4059936"/>
            <a:ext cx="4605375" cy="4396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sz="11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用真实工种任务做多维实测，算出「它与你」的契合度；再把合适的几个 Agent 编成一支队伍，嵌进你原有的流程。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46723" y="3552444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6164427" y="3470148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6205575" y="3511296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0" name="Oval 29"/>
          <p:cNvSpPr/>
          <p:nvPr/>
        </p:nvSpPr>
        <p:spPr>
          <a:xfrm>
            <a:off x="6461607" y="3758184"/>
            <a:ext cx="91440" cy="91440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626199" y="3703320"/>
            <a:ext cx="447735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创新点与差异化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1607" y="4059936"/>
            <a:ext cx="4605375" cy="6698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sz="11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其一，评估发生在真实工作流里——模糊需求、多轮澄清、人在回路，而不是一道标准题；其二，评估视角是参数，同一个 Agent 对不同的人给出不同的契合度。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9828" y="4997196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827532" y="4914900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868680" y="4956048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6" name="Oval 35"/>
          <p:cNvSpPr/>
          <p:nvPr/>
        </p:nvSpPr>
        <p:spPr>
          <a:xfrm>
            <a:off x="1124712" y="5202936"/>
            <a:ext cx="91440" cy="91440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289304" y="5148072"/>
            <a:ext cx="447735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开放 / 复用价值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4712" y="5504688"/>
            <a:ext cx="4605375" cy="4396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sz="11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MIT 开源。评估方法层、能力注册内核、观测投影三者互不依赖，任何做 Agent 评估的团队都可以只取走其中一个。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46723" y="4997196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6164427" y="4914900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6205575" y="4956048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42" name="Oval 41"/>
          <p:cNvSpPr/>
          <p:nvPr/>
        </p:nvSpPr>
        <p:spPr>
          <a:xfrm>
            <a:off x="6461607" y="5202936"/>
            <a:ext cx="91440" cy="91440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626199" y="5148072"/>
            <a:ext cx="447735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当前进展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61607" y="5504688"/>
            <a:ext cx="4605375" cy="4396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sz="11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四个职能 Agent 与五个能力单元可运行，闭环能离线跑通并留存证据，651 + 282 项自动化测试通过。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2331720"/>
            <a:ext cx="27432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724912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68680" y="2999232"/>
            <a:ext cx="7840751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供给在增长，契合才是解药</a:t>
            </a:r>
            <a:endParaRPr sz="36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6481687" cy="263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问题已经不是「有没有Agent可用</a:t>
            </a:r>
            <a:r>
              <a:rPr sz="135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」，</a:t>
            </a:r>
            <a:r>
              <a:rPr sz="135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而是「哪个</a:t>
            </a:r>
            <a:r>
              <a:rPr lang="en-US" altLang="zh-CN" sz="135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Agent</a:t>
            </a:r>
            <a:r>
              <a:rPr sz="135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真的接得住我</a:t>
            </a:r>
            <a:r>
              <a:rPr lang="zh-CN" altLang="en-US" sz="135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干</a:t>
            </a:r>
            <a:r>
              <a:rPr sz="135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的活</a:t>
            </a:r>
            <a:r>
              <a:rPr sz="135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场景与价值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5429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职场人的一天，从来不是一道</a:t>
            </a:r>
            <a:r>
              <a:rPr lang="zh-CN" altLang="en-US" sz="32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对错</a:t>
            </a:r>
            <a:r>
              <a:rPr sz="32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302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需求半路才说清、上下文散在几个窗口里、真正的决定还得自己拍板</a:t>
            </a:r>
            <a:r>
              <a:rPr sz="16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pic>
        <p:nvPicPr>
          <p:cNvPr id="9" name="Picture 8" descr="n10-one-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6907" y="2084832"/>
            <a:ext cx="3957880" cy="15544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09828" y="3790188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2" y="3707892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68680" y="3749040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1143000" y="4023360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325880" y="3968496"/>
            <a:ext cx="2789834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上午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443984"/>
            <a:ext cx="2789834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一句「帮我把这个整理一下」开始，边做边问才知道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需求和方向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到底要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怎么走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67758" y="3790188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4385462" y="3707892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4426610" y="3749040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4700930" y="4023360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883810" y="3968496"/>
            <a:ext cx="2789834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下午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0930" y="4443984"/>
            <a:ext cx="2789834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同一件事在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多个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工具之间来回搬运，上下文靠人脑接力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25688" y="3790188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7943392" y="3707892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7984540" y="3749040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5" name="Oval 24"/>
          <p:cNvSpPr/>
          <p:nvPr/>
        </p:nvSpPr>
        <p:spPr>
          <a:xfrm>
            <a:off x="8258860" y="4023360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8441740" y="3968496"/>
            <a:ext cx="2789834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下班前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8860" y="4443984"/>
            <a:ext cx="2789834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真正有风险的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决定思考再三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，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仍然要自己确认了才敢发出去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358384"/>
            <a:ext cx="10454335" cy="2925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一天里真正耗人的，不是难题，而是</a:t>
            </a:r>
            <a:r>
              <a:rPr lang="zh-CN" altLang="en-US"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接力</a:t>
            </a:r>
            <a:r>
              <a:rPr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——把</a:t>
            </a:r>
            <a:r>
              <a:rPr lang="zh-CN" altLang="en-US"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思路、</a:t>
            </a:r>
            <a:r>
              <a:rPr sz="15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工具、上下文和判断</a:t>
            </a:r>
            <a:r>
              <a:rPr lang="zh-CN" altLang="en-US"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力</a:t>
            </a:r>
            <a:r>
              <a:rPr sz="15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一次次接</a:t>
            </a:r>
            <a:r>
              <a:rPr lang="zh-CN" altLang="en-US"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力</a:t>
            </a:r>
            <a:r>
              <a:rPr sz="15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起来</a:t>
            </a:r>
            <a:r>
              <a:rPr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场景与价值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610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6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Agent </a:t>
            </a:r>
            <a:r>
              <a:rPr sz="36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供给在增长，契合才是选择困难症的解药</a:t>
            </a:r>
            <a:endParaRPr sz="36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68680" y="157276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719072"/>
            <a:ext cx="8990728" cy="302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候选每周都在变多，可用来判断的依据，还停留在几年前。</a:t>
            </a:r>
          </a:p>
        </p:txBody>
      </p:sp>
      <p:pic>
        <p:nvPicPr>
          <p:cNvPr id="9" name="Picture 8" descr="n01-choice-over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0003" y="2267712"/>
            <a:ext cx="2092486" cy="374903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09828" y="2418588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2" y="2336292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68680" y="2377440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1143000" y="2651760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325880" y="2596896"/>
            <a:ext cx="4364897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altLang="en-US" sz="16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小白所</a:t>
            </a:r>
            <a:r>
              <a:rPr sz="16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能看到的</a:t>
            </a:r>
            <a:endParaRPr sz="16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43000" y="3072384"/>
            <a:ext cx="4364897" cy="5369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star </a:t>
            </a: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数、一份漂亮的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 </a:t>
            </a: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README、别人一句「挺好用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」，</a:t>
            </a: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以及某张榜单上的名次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" y="4011168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7532" y="3928872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68680" y="3970020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1143000" y="4244340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325880" y="4189476"/>
            <a:ext cx="4364897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我们真正想问的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664964"/>
            <a:ext cx="4364897" cy="5369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4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它接不接得住我这类活？多轮沟通下来顺不顺手？放进我现有的流程里，会不会卡住？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599176"/>
            <a:ext cx="5540358" cy="351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看得到的都是别人的经验，想问的全都</a:t>
            </a:r>
            <a:r>
              <a:rPr lang="zh-CN" altLang="en-US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是</a:t>
            </a:r>
            <a:r>
              <a:rPr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关于自己</a:t>
            </a:r>
            <a:endParaRPr b="1" dirty="0">
              <a:solidFill>
                <a:srgbClr val="C2673F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场景与价值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610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6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跑分很高，不等于能替你干这份活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302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榜单衡量的是模型有多强，而你要判断的是它与你这条流程合不合得上。</a:t>
            </a:r>
          </a:p>
        </p:txBody>
      </p:sp>
      <p:pic>
        <p:nvPicPr>
          <p:cNvPr id="9" name="Picture 8" descr="n02-score-not-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4934" y="2558957"/>
            <a:ext cx="5018080" cy="280078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09828" y="2253996"/>
            <a:ext cx="4808994" cy="1125474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2" y="2171700"/>
            <a:ext cx="4808994" cy="112547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68680" y="2212848"/>
            <a:ext cx="4808994" cy="1125474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1143000" y="2487168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325880" y="2432304"/>
            <a:ext cx="4260354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榜单里的题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710146"/>
            <a:ext cx="4260354" cy="5369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题面清晰、答案唯一、一问一答，没有</a:t>
            </a:r>
            <a:r>
              <a:rPr lang="zh-CN" altLang="en-US"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长期使用</a:t>
            </a: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历史，也没有你的偏好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" y="3635502"/>
            <a:ext cx="4808994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7532" y="3553206"/>
            <a:ext cx="4808994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68680" y="3594354"/>
            <a:ext cx="4808994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1143000" y="3868674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325880" y="3813810"/>
            <a:ext cx="4260354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你手上的活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250868"/>
            <a:ext cx="4260354" cy="5369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需求先是模糊的，边聊边清楚；带着你的口味</a:t>
            </a:r>
            <a:r>
              <a:rPr lang="zh-CN" altLang="en-US"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、审美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、</a:t>
            </a: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习惯和既定流程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223510"/>
            <a:ext cx="6133482" cy="351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强弱是模型的属性，合不合适是你和它之间的关系</a:t>
            </a:r>
            <a:endParaRPr b="1" dirty="0">
              <a:solidFill>
                <a:srgbClr val="C2673F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68680" y="5709666"/>
            <a:ext cx="4808994" cy="522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同一个模型，在离线评测里与在真人对话里，行为并不一致。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Wang, Ho &amp; Koyejo, Patterns 2025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场景与价值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5429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真实的职场，和干净的跑分榜，隔着整个现场</a:t>
            </a:r>
            <a:endParaRPr sz="32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26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所以评估必须回到同样的语境</a:t>
            </a:r>
            <a:r>
              <a:rPr lang="zh-CN" altLang="en-US"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和职场</a:t>
            </a: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里发生，而不是在一间没有噪声的实验室里完成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pic>
        <p:nvPicPr>
          <p:cNvPr id="9" name="Picture 8" descr="n03-fuzzy-to-cl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7205" y="2550685"/>
            <a:ext cx="4965809" cy="277161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09828" y="2235708"/>
            <a:ext cx="4756722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2" y="2153412"/>
            <a:ext cx="4756722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68680" y="2194560"/>
            <a:ext cx="4756722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1143000" y="2468880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325880" y="2414016"/>
            <a:ext cx="4208082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实验室里的评测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889504"/>
            <a:ext cx="4208082" cy="5369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条件干净、任务封闭、一次成型：题目给定，答案可对照，过程不必留痕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" y="3810000"/>
            <a:ext cx="4756722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7532" y="3727704"/>
            <a:ext cx="4756722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68680" y="3768852"/>
            <a:ext cx="4756722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1143000" y="4043172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325880" y="3988308"/>
            <a:ext cx="4208082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现场发生的工作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463796"/>
            <a:ext cx="4208082" cy="5369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需求模糊、要多轮澄清、人始终在回路里：关键处由人拍板，而不是全自动跑完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398008"/>
            <a:ext cx="4756722" cy="3120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6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我们要</a:t>
            </a:r>
            <a:r>
              <a:rPr lang="zh-CN" altLang="en-US" sz="16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探讨的</a:t>
            </a:r>
            <a:r>
              <a:rPr sz="16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测</a:t>
            </a:r>
            <a:r>
              <a:rPr lang="zh-CN" altLang="en-US" sz="16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评</a:t>
            </a:r>
            <a:r>
              <a:rPr sz="16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，</a:t>
            </a:r>
            <a:r>
              <a:rPr sz="16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正是在这种「不干净」里的表现</a:t>
            </a:r>
            <a:endParaRPr sz="1600" b="1" dirty="0">
              <a:solidFill>
                <a:srgbClr val="C2673F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2331720"/>
            <a:ext cx="27432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724912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68680" y="2999232"/>
            <a:ext cx="7840751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所以我们换一种测法</a:t>
            </a:r>
            <a:r>
              <a:rPr lang="zh-CN" altLang="en-US" sz="36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推荐</a:t>
            </a:r>
            <a:r>
              <a:rPr lang="en-US" altLang="zh-CN" sz="36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Agent</a:t>
            </a:r>
            <a:endParaRPr sz="36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6481687" cy="3120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6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不</a:t>
            </a:r>
            <a:r>
              <a:rPr lang="zh-CN" altLang="en-US" sz="16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只是</a:t>
            </a:r>
            <a:r>
              <a:rPr sz="16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比通用能力的高下</a:t>
            </a:r>
            <a:r>
              <a:rPr sz="16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，</a:t>
            </a:r>
            <a:r>
              <a:rPr lang="zh-CN" altLang="en-US" sz="16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更</a:t>
            </a:r>
            <a:r>
              <a:rPr sz="16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比它和你的活合不合得来</a:t>
            </a:r>
            <a:r>
              <a:rPr sz="16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方案总览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5429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我们给出的不</a:t>
            </a:r>
            <a:r>
              <a:rPr lang="zh-CN" altLang="en-US" sz="32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只</a:t>
            </a:r>
            <a:r>
              <a:rPr sz="32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是分数</a:t>
            </a:r>
            <a:r>
              <a:rPr sz="32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，</a:t>
            </a:r>
            <a:r>
              <a:rPr lang="zh-CN" altLang="en-US" sz="32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更</a:t>
            </a:r>
            <a:r>
              <a:rPr sz="32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是契合度</a:t>
            </a:r>
            <a:endParaRPr sz="32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26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契合度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 = </a:t>
            </a: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你在意什么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 × </a:t>
            </a: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它在这些方面的实测表现，因人而异，也因活而异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pic>
        <p:nvPicPr>
          <p:cNvPr id="9" name="Picture 8" descr="n05-multidim-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7756" y="2066544"/>
            <a:ext cx="3116979" cy="37947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09828" y="2235708"/>
            <a:ext cx="4913537" cy="1125474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2" y="2153412"/>
            <a:ext cx="4913537" cy="112547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68680" y="2194560"/>
            <a:ext cx="4913537" cy="1125474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1143000" y="2468880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325880" y="2414016"/>
            <a:ext cx="4364897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一个总分说明不了什么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763006"/>
            <a:ext cx="4364897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有人最怕返工，有人最要速度。压成一个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平均值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，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让人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取舍的信息就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丢失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" y="3617214"/>
            <a:ext cx="4913537" cy="1738884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7532" y="3534918"/>
            <a:ext cx="4913537" cy="173888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68680" y="3576066"/>
            <a:ext cx="4913537" cy="1738884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1143000" y="3850386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325880" y="3795522"/>
            <a:ext cx="4364897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所以我们把视角变成参数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271010"/>
            <a:ext cx="4364897" cy="70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六个通用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能力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维度</a:t>
            </a:r>
            <a:r>
              <a:rPr 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 </a:t>
            </a:r>
            <a:r>
              <a:rPr lang="en-US" altLang="zh-CN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+ 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工种专项维度分别成绩，再按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用户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的权重加权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；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模型打分的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客观榜与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用户的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主观榜并列呈现，不合成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单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一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的</a:t>
            </a:r>
            <a:r>
              <a:rPr lang="zh-CN" altLang="en-US" sz="120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榜单推荐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4729734"/>
            <a:ext cx="4364897" cy="0"/>
          </a:xfrm>
          <a:prstGeom prst="rect">
            <a:avLst/>
          </a:prstGeom>
          <a:noFill/>
          <a:ln w="9525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01851" y="5045875"/>
            <a:ext cx="4364897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4A6B52"/>
                </a:solidFill>
                <a:latin typeface="阿里妈妈刀隶体" pitchFamily="2" charset="-122"/>
                <a:ea typeface="阿里妈妈刀隶体" pitchFamily="2" charset="-122"/>
              </a:rPr>
              <a:t>同一个 Agent，换个人看，排名就不同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607558"/>
            <a:ext cx="4913537" cy="3120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6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契合度不是它有多好</a:t>
            </a:r>
            <a:r>
              <a:rPr lang="zh-CN" altLang="en-US" sz="16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多强</a:t>
            </a:r>
            <a:r>
              <a:rPr sz="16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，</a:t>
            </a:r>
            <a:r>
              <a:rPr sz="16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而是它与你有多合</a:t>
            </a:r>
            <a:r>
              <a:rPr lang="zh-CN" altLang="en-US" sz="16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拍</a:t>
            </a:r>
            <a:r>
              <a:rPr sz="16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方案总览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5089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题目</a:t>
            </a:r>
            <a:r>
              <a:rPr lang="zh-CN" altLang="en-US" sz="3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灵感取自</a:t>
            </a:r>
            <a:r>
              <a:rPr lang="en-US" altLang="zh-CN" sz="3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HR</a:t>
            </a:r>
            <a:r>
              <a:rPr lang="zh-CN" altLang="en-US" sz="3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面试场景</a:t>
            </a:r>
            <a:r>
              <a:rPr sz="3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，</a:t>
            </a:r>
            <a:r>
              <a:rPr lang="en-US" altLang="zh-CN" sz="30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LLM</a:t>
            </a:r>
            <a:r>
              <a:rPr sz="30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判定不</a:t>
            </a:r>
            <a:r>
              <a:rPr lang="zh-CN" altLang="en-US" sz="3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只</a:t>
            </a:r>
            <a:r>
              <a:rPr sz="30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靠印象</a:t>
            </a:r>
            <a:r>
              <a:rPr lang="zh-CN" altLang="en-US" sz="3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分</a:t>
            </a:r>
            <a:endParaRPr sz="30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2460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所有候选做同一套题、按同一份标准判定，新发布的 Agent 也能被公平地看见。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" y="2217420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27532" y="2135124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68680" y="2176272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1143000" y="2450592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325880" y="2395728"/>
            <a:ext cx="2789834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写代码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839850"/>
            <a:ext cx="2789834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合并脏数据并补测试、定位并发计数错误、给公开接口做安全加固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67758" y="2217420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4385462" y="2135124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4426610" y="2176272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00930" y="2450592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883810" y="2395728"/>
            <a:ext cx="2789834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写文案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0930" y="2871216"/>
            <a:ext cx="2789834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同一内容改写给不同读者、事实校核并标注来源、压缩字数而不丢信息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5688" y="2217420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7943392" y="2135124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7984540" y="2176272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4" name="Oval 23"/>
          <p:cNvSpPr/>
          <p:nvPr/>
        </p:nvSpPr>
        <p:spPr>
          <a:xfrm>
            <a:off x="8258860" y="2450592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441740" y="2395728"/>
            <a:ext cx="2789834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做图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8860" y="2871216"/>
            <a:ext cx="2789834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从一段需求描述推出画面参数、维持系列图的一致性、在冲突约束下取舍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3730752"/>
            <a:ext cx="10454335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两道设计，让分数经得起追问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9828" y="4101084"/>
            <a:ext cx="5117439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827532" y="4018788"/>
            <a:ext cx="5117439" cy="135940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868680" y="4059936"/>
            <a:ext cx="5117439" cy="1298448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1143000" y="4334256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325880" y="4279392"/>
            <a:ext cx="4568799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逐条判定，且必须引用原文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4754880"/>
            <a:ext cx="4568799" cy="2110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裁判要为每一条要点标注命中与否，找不到原文支撑的一律记未命中</a:t>
            </a:r>
            <a:r>
              <a:rPr sz="115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46723" y="4101084"/>
            <a:ext cx="5117439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6164427" y="4018788"/>
            <a:ext cx="5117439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6205575" y="4059936"/>
            <a:ext cx="5117439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7" name="Oval 36"/>
          <p:cNvSpPr/>
          <p:nvPr/>
        </p:nvSpPr>
        <p:spPr>
          <a:xfrm>
            <a:off x="6479895" y="4334256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662775" y="4279392"/>
            <a:ext cx="4568799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题面内置反注水探针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79895" y="4754880"/>
            <a:ext cx="4568799" cy="4404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声称「已充分测试」却给不出用例，会被当场识别</a:t>
            </a:r>
            <a:r>
              <a:rPr sz="115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——</a:t>
            </a:r>
            <a:r>
              <a:rPr lang="en-US" altLang="zh-CN" sz="115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Agent</a:t>
            </a:r>
            <a:r>
              <a:rPr sz="115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空话说得越漂亮，暴露得越明显。</a:t>
            </a:r>
            <a:r>
              <a:rPr lang="en-US" altLang="zh-CN" sz="115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Agent</a:t>
            </a:r>
            <a:r>
              <a:rPr lang="en-US" altLang="zh-CN" sz="115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, Show me your code</a:t>
            </a:r>
            <a:r>
              <a:rPr lang="zh-CN" altLang="en-US" sz="115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  <a:endParaRPr sz="1150" b="0" dirty="0">
              <a:solidFill>
                <a:srgbClr val="6B6250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871122" y="5586945"/>
            <a:ext cx="10454335" cy="2925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我们</a:t>
            </a:r>
            <a:r>
              <a:rPr lang="zh-CN" altLang="en-US"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目前</a:t>
            </a:r>
            <a:r>
              <a:rPr sz="15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不追求</a:t>
            </a:r>
            <a:r>
              <a:rPr lang="en-US" altLang="zh-CN" sz="15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benchmark</a:t>
            </a:r>
            <a:r>
              <a:rPr lang="zh-CN" altLang="en-US"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的题目</a:t>
            </a:r>
            <a:r>
              <a:rPr sz="15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测得多</a:t>
            </a:r>
            <a:r>
              <a:rPr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，</a:t>
            </a:r>
            <a:r>
              <a:rPr lang="zh-CN" altLang="en-US"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更</a:t>
            </a:r>
            <a:r>
              <a:rPr sz="15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追求每</a:t>
            </a:r>
            <a:r>
              <a:rPr lang="zh-CN" altLang="en-US"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次打分</a:t>
            </a:r>
            <a:r>
              <a:rPr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都</a:t>
            </a:r>
            <a:r>
              <a:rPr lang="zh-CN" altLang="en-US"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有迹可循</a:t>
            </a:r>
            <a:r>
              <a:rPr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方案总览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5089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Agent</a:t>
            </a:r>
            <a:r>
              <a:rPr lang="zh-CN" altLang="en-US" sz="3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不能单打独斗</a:t>
            </a:r>
            <a:r>
              <a:rPr sz="3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，</a:t>
            </a:r>
            <a:r>
              <a:rPr lang="zh-CN" altLang="en-US" sz="3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复杂任务需要</a:t>
            </a:r>
            <a:r>
              <a:rPr sz="30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排兵布阵</a:t>
            </a:r>
            <a:endParaRPr sz="30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68680" y="157276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719072"/>
            <a:ext cx="8990728" cy="302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按职能挑人、按流程落位</a:t>
            </a:r>
            <a:r>
              <a:rPr sz="16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——让</a:t>
            </a:r>
            <a:r>
              <a:rPr lang="zh-CN" altLang="en-US" sz="16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数字员工</a:t>
            </a:r>
            <a:r>
              <a:rPr sz="16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嵌进你已有的工作方式，而不是让你迁就它们</a:t>
            </a:r>
            <a:r>
              <a:rPr sz="16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pic>
        <p:nvPicPr>
          <p:cNvPr id="23" name="Picture 22" descr="n12-chess-form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371" y="2057400"/>
            <a:ext cx="2186418" cy="40690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09828" y="2418588"/>
            <a:ext cx="5749884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2" y="2336292"/>
            <a:ext cx="5749884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68680" y="2377440"/>
            <a:ext cx="5749884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1143000" y="2651760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325880" y="2596896"/>
            <a:ext cx="5201244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先看阵型，再看单点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072384"/>
            <a:ext cx="5201244" cy="5369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组队看的不是每个位置上最强的那个，而是这几个凑在一起，能不能把这条流程从头跑到尾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" y="3992880"/>
            <a:ext cx="5749884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7532" y="3910584"/>
            <a:ext cx="5749884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68680" y="3951732"/>
            <a:ext cx="5749884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1143000" y="4226052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325880" y="4171188"/>
            <a:ext cx="5201244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落位到你现有的流程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604415"/>
            <a:ext cx="5201244" cy="5369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哪个环节交给谁、交接时带什么上下文、哪些环节仍然由人补位，都在组队时一并定下来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562600"/>
            <a:ext cx="5749884" cy="6157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选人只是第一步，摆得对位置，队伍才成立</a:t>
            </a:r>
            <a:r>
              <a:rPr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  <a:r>
              <a:rPr lang="zh-CN" altLang="en-US"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让用户体会到带领数字员工攻坚克难的良好感觉。</a:t>
            </a:r>
            <a:endParaRPr sz="1500" b="1" dirty="0">
              <a:solidFill>
                <a:srgbClr val="C2673F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2331720"/>
            <a:ext cx="27432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724912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68680" y="2999232"/>
            <a:ext cx="7840751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让这支队伍真的能干活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6481687" cy="263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分工、交接、留痕，以及在关键处始终由人说了算。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多 Agent 协同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5089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lang="en-US" altLang="zh-CN" sz="30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  <a:r>
              <a:rPr lang="zh-CN" altLang="en-US" sz="3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的</a:t>
            </a:r>
            <a:r>
              <a:rPr sz="30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四个</a:t>
            </a:r>
            <a:r>
              <a:rPr lang="en-US" altLang="zh-CN" sz="30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Agent</a:t>
            </a:r>
            <a:r>
              <a:rPr lang="zh-CN" altLang="en-US" sz="3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通力合作</a:t>
            </a:r>
            <a:endParaRPr sz="30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26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谁能做什么、不能做什么、哪些动作必须人点头，都是程序会读取的字段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" y="2217420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27532" y="2135124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68680" y="2176272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1143000" y="2450592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325880" y="2395728"/>
            <a:ext cx="1914067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决策</a:t>
            </a:r>
            <a:r>
              <a:rPr lang="en-US" altLang="zh-CN" sz="13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Agent</a:t>
            </a:r>
            <a:endParaRPr sz="13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143000" y="2871216"/>
            <a:ext cx="1914067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辅佐用户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提出需求、设定偏好，并对上线与撤回拍板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3374136"/>
            <a:ext cx="1914067" cy="0"/>
          </a:xfrm>
          <a:prstGeom prst="rect">
            <a:avLst/>
          </a:prstGeom>
          <a:noFill/>
          <a:ln w="9525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43000" y="3483864"/>
            <a:ext cx="1914067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唯一放行权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73703" y="2217420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3491407" y="2135124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3532555" y="2176272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3806875" y="2450592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989755" y="2395728"/>
            <a:ext cx="1914067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编排</a:t>
            </a:r>
            <a:r>
              <a:rPr lang="en-US" altLang="zh-CN" sz="13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Agent</a:t>
            </a:r>
            <a:endParaRPr sz="13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806875" y="2871216"/>
            <a:ext cx="1914067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拆解任务、分发执行，沿途传递上下文与状态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06875" y="3374136"/>
            <a:ext cx="1914067" cy="0"/>
          </a:xfrm>
          <a:prstGeom prst="rect">
            <a:avLst/>
          </a:prstGeom>
          <a:noFill/>
          <a:ln w="9525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806875" y="3483864"/>
            <a:ext cx="1914067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E5C76"/>
                </a:solidFill>
                <a:latin typeface="阿里妈妈刀隶体" pitchFamily="2" charset="-122"/>
                <a:ea typeface="阿里妈妈刀隶体" pitchFamily="2" charset="-122"/>
              </a:rPr>
              <a:t>不可绕过决策方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7579" y="2217420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6155283" y="2135124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6196431" y="2176272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8" name="Oval 27"/>
          <p:cNvSpPr/>
          <p:nvPr/>
        </p:nvSpPr>
        <p:spPr>
          <a:xfrm>
            <a:off x="6470751" y="2450592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653631" y="2395728"/>
            <a:ext cx="1914067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出题</a:t>
            </a:r>
            <a:r>
              <a:rPr lang="en-US" altLang="zh-CN" sz="13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Agent</a:t>
            </a:r>
            <a:r>
              <a:rPr lang="en-US" altLang="zh-CN" sz="13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(HR)</a:t>
            </a:r>
            <a:endParaRPr sz="13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470751" y="2871216"/>
            <a:ext cx="1914067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把岗位要求拆成考察点，多轮提问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、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追问</a:t>
            </a:r>
            <a:r>
              <a:rPr lang="zh-CN" altLang="en-US" sz="120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、评估印象分</a:t>
            </a:r>
            <a:endParaRPr sz="1200" b="0" dirty="0">
              <a:solidFill>
                <a:srgbClr val="6B6250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6470751" y="3374136"/>
            <a:ext cx="1914067" cy="0"/>
          </a:xfrm>
          <a:prstGeom prst="rect">
            <a:avLst/>
          </a:prstGeom>
          <a:noFill/>
          <a:ln w="9525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470751" y="3483864"/>
            <a:ext cx="1914067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dirty="0" err="1">
                <a:solidFill>
                  <a:srgbClr val="4A6B52"/>
                </a:solidFill>
                <a:latin typeface="阿里妈妈刀隶体" pitchFamily="2" charset="-122"/>
                <a:ea typeface="阿里妈妈刀隶体" pitchFamily="2" charset="-122"/>
              </a:rPr>
              <a:t>不参与</a:t>
            </a:r>
            <a:r>
              <a:rPr lang="zh-CN" altLang="en-US" sz="1100" b="1" dirty="0">
                <a:solidFill>
                  <a:srgbClr val="4A6B52"/>
                </a:solidFill>
                <a:latin typeface="阿里妈妈刀隶体" pitchFamily="2" charset="-122"/>
                <a:ea typeface="阿里妈妈刀隶体" pitchFamily="2" charset="-122"/>
              </a:rPr>
              <a:t>绩效</a:t>
            </a:r>
            <a:r>
              <a:rPr sz="1100" b="1" dirty="0" err="1">
                <a:solidFill>
                  <a:srgbClr val="4A6B52"/>
                </a:solidFill>
                <a:latin typeface="阿里妈妈刀隶体" pitchFamily="2" charset="-122"/>
                <a:ea typeface="阿里妈妈刀隶体" pitchFamily="2" charset="-122"/>
              </a:rPr>
              <a:t>打分</a:t>
            </a:r>
            <a:endParaRPr sz="1100" b="1" dirty="0">
              <a:solidFill>
                <a:srgbClr val="4A6B52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8901455" y="2217420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8819159" y="2135124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8860307" y="2176272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6" name="Oval 35"/>
          <p:cNvSpPr/>
          <p:nvPr/>
        </p:nvSpPr>
        <p:spPr>
          <a:xfrm>
            <a:off x="9134627" y="2450592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9317507" y="2395728"/>
            <a:ext cx="1914067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altLang="en-US" sz="13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绩效</a:t>
            </a:r>
            <a:r>
              <a:rPr lang="en-US" altLang="zh-CN" sz="13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Agent(</a:t>
            </a:r>
            <a:r>
              <a:rPr lang="zh-CN" altLang="en-US" sz="13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赛博人事</a:t>
            </a:r>
            <a:r>
              <a:rPr lang="en-US" altLang="zh-CN" sz="13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)</a:t>
            </a:r>
            <a:endParaRPr sz="13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9134627" y="2871216"/>
            <a:ext cx="1914067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多维度实测评分</a:t>
            </a:r>
            <a:r>
              <a:rPr 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(Agent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的</a:t>
            </a:r>
            <a:r>
              <a:rPr lang="en-US" altLang="zh-CN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KPI</a:t>
            </a:r>
            <a:r>
              <a:rPr 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)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，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长期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测量与稳定性</a:t>
            </a:r>
            <a:endParaRPr sz="1200" b="0" dirty="0">
              <a:solidFill>
                <a:srgbClr val="6B6250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9134627" y="3374136"/>
            <a:ext cx="1914067" cy="0"/>
          </a:xfrm>
          <a:prstGeom prst="rect">
            <a:avLst/>
          </a:prstGeom>
          <a:noFill/>
          <a:ln w="9525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9134627" y="3483864"/>
            <a:ext cx="1914067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不参与放行</a:t>
            </a:r>
            <a:endParaRPr sz="1100" b="1" dirty="0">
              <a:solidFill>
                <a:srgbClr val="C2673F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868680" y="4206240"/>
            <a:ext cx="10454335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交接时传递什么，决定了这条链路可不可信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1832" y="4590288"/>
            <a:ext cx="2153649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交接环节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41785" y="4590288"/>
            <a:ext cx="2989996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传递什么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8086" y="4590288"/>
            <a:ext cx="4871776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为什么这样设计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8680" y="4901184"/>
            <a:ext cx="10454335" cy="0"/>
          </a:xfrm>
          <a:prstGeom prst="rect">
            <a:avLst/>
          </a:prstGeom>
          <a:noFill/>
          <a:ln w="13970">
            <a:solidFill>
              <a:srgbClr val="514A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941832" y="5001768"/>
            <a:ext cx="2153649" cy="1891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决策 → 出题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41785" y="5001768"/>
            <a:ext cx="2989996" cy="1891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岗位要求与偏好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78086" y="5001768"/>
            <a:ext cx="4871776" cy="1891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题目必须对准</a:t>
            </a:r>
            <a:r>
              <a:rPr lang="zh-CN" altLang="en-US" sz="1100" b="0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用户的</a:t>
            </a:r>
            <a:r>
              <a:rPr sz="1100" b="0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真实</a:t>
            </a:r>
            <a:r>
              <a:rPr lang="zh-CN" altLang="en-US" sz="1100" b="0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工作</a:t>
            </a:r>
            <a:r>
              <a:rPr sz="1100" b="0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需求，而不是通用题库</a:t>
            </a:r>
            <a:endParaRPr sz="1100" b="0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868680" y="5248656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941832" y="5349240"/>
            <a:ext cx="2153649" cy="1891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出题 → 评分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41785" y="5349240"/>
            <a:ext cx="2989996" cy="1891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实测记录与考察点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78086" y="5349240"/>
            <a:ext cx="4871776" cy="1891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只依据实际作答判定，不看候选</a:t>
            </a:r>
            <a:r>
              <a:rPr lang="en-US" altLang="zh-CN" sz="1100" b="0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Agent</a:t>
            </a:r>
            <a:r>
              <a:rPr sz="1100" b="0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来自哪里</a:t>
            </a:r>
            <a:endParaRPr sz="1100" b="0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868680" y="5596128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941832" y="5696712"/>
            <a:ext cx="2153649" cy="1891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评分 → 决策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41785" y="5696712"/>
            <a:ext cx="2989996" cy="1891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分数、稳定性与原文证据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78086" y="5696712"/>
            <a:ext cx="4871776" cy="1891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决策者拿到的是</a:t>
            </a:r>
            <a:r>
              <a:rPr lang="zh-CN" altLang="en-US" sz="1100" b="0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客观</a:t>
            </a:r>
            <a:r>
              <a:rPr sz="1100" b="0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证据，不是一句</a:t>
            </a:r>
            <a:r>
              <a:rPr lang="zh-CN" altLang="en-US" sz="1100" b="0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简单的</a:t>
            </a:r>
            <a:r>
              <a:rPr sz="1100" b="0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结论</a:t>
            </a:r>
            <a:endParaRPr sz="1100" b="0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868680" y="5943600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多 Agent 协同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5089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人不在流程之外，而在回路之上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302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en-US" altLang="zh-CN" sz="16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Agent</a:t>
            </a:r>
            <a:r>
              <a:rPr lang="zh-CN" altLang="en-US" sz="16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要辅佐人上树摘果子，不能替人摘果后让人守株待兔</a:t>
            </a:r>
            <a:endParaRPr sz="1600" b="0" dirty="0">
              <a:solidFill>
                <a:srgbClr val="6B6250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pic>
        <p:nvPicPr>
          <p:cNvPr id="9" name="Picture 8" descr="n06-human-in-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7205" y="2555256"/>
            <a:ext cx="4965809" cy="277161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09828" y="2235708"/>
            <a:ext cx="4756722" cy="1481328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2" y="2153412"/>
            <a:ext cx="4756722" cy="148132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68680" y="2194560"/>
            <a:ext cx="4756722" cy="1481328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1143000" y="2468880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325880" y="2414016"/>
            <a:ext cx="4208082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拦得住 · 决定权不外包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889504"/>
            <a:ext cx="4208082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高风险动作在人点头之前不会执行，流程原地挂起等你决定。每一次放行都是一次真实的职业判断，判断力用进废退——AgentCorp 把这些关口留在人手里。</a:t>
            </a:r>
            <a:endParaRPr sz="1200" b="0" dirty="0">
              <a:solidFill>
                <a:srgbClr val="6B6250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909828" y="3977639"/>
            <a:ext cx="4756722" cy="1481328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7532" y="3895344"/>
            <a:ext cx="4756722" cy="148132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68680" y="3941063"/>
            <a:ext cx="4756722" cy="1481328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1143000" y="4251960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325880" y="4197096"/>
            <a:ext cx="4208082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撤得回 · 敢于亲自试更难的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672584"/>
            <a:ext cx="4208082" cy="4404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已执行的动作按相反顺序撤销，撤不掉的会被明确报出来。试错成本可控，人才敢去碰那些更难、更值得练的决策，而不是因为怕出错就绕开。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632704"/>
            <a:ext cx="475672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我们想让人越用越熟练，而不是越用越不敢自己动手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2331720"/>
            <a:ext cx="27432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724912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68680" y="2999232"/>
            <a:ext cx="7840751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凭什么相信这个结论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6481687" cy="2730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先解决一个前提：让模型当裁判，裁判自己靠不靠谱。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评估方法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5429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同一份答案连打三次，分数常常并不一样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26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所以我们不采信任何一次单独的打分，而是用一整套办法把噪声压下去。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" y="2217420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27532" y="2135124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68680" y="2176272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1143000" y="2450592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325880" y="2395728"/>
            <a:ext cx="456879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重复测量，取严不取宽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871216"/>
            <a:ext cx="4568799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同一份答案独立评多次，每一次都达标才算达标；有一次掉下来，就不算可靠。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6723" y="2217420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164427" y="2135124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205575" y="2176272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6479895" y="2450592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662775" y="2395728"/>
            <a:ext cx="456879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打飘了要能被发现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9895" y="2871216"/>
            <a:ext cx="4568799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检查多次评分之间的离散程度，波动过大就下调置信度并转人工复核。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28" y="3936492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827532" y="3854196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868680" y="3895344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4" name="Oval 23"/>
          <p:cNvSpPr/>
          <p:nvPr/>
        </p:nvSpPr>
        <p:spPr>
          <a:xfrm>
            <a:off x="1143000" y="4169664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325880" y="4114800"/>
            <a:ext cx="456879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抵抗已知的偏见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590288"/>
            <a:ext cx="4568799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每轮打乱维度顺序以避开位置效应，并明确要求不因回答长就给高分。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46723" y="3936492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6164427" y="3854196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6205575" y="3895344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0" name="Oval 29"/>
          <p:cNvSpPr/>
          <p:nvPr/>
        </p:nvSpPr>
        <p:spPr>
          <a:xfrm>
            <a:off x="6479895" y="4169664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662775" y="4114800"/>
            <a:ext cx="456879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分数的来源必须标清楚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9895" y="4590288"/>
            <a:ext cx="4568799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真实裁判、部分降级还是完全降级，逐条标注；降级产生的结论不进经验库。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5650992"/>
            <a:ext cx="10454335" cy="3120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6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我们只主张结论稳定</a:t>
            </a:r>
            <a:r>
              <a:rPr sz="16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，</a:t>
            </a:r>
            <a:r>
              <a:rPr lang="zh-CN" altLang="en-US" sz="16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目前</a:t>
            </a:r>
            <a:r>
              <a:rPr sz="16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不主张结论正确</a:t>
            </a:r>
            <a:r>
              <a:rPr sz="16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——</a:t>
            </a:r>
            <a:r>
              <a:rPr sz="16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后者需要长期的</a:t>
            </a:r>
            <a:r>
              <a:rPr lang="zh-CN" altLang="en-US" sz="16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用户</a:t>
            </a:r>
            <a:r>
              <a:rPr sz="16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真实数据来验证</a:t>
            </a:r>
            <a:r>
              <a:rPr lang="zh-CN" altLang="en-US" sz="16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，描绘更精准的职场画像</a:t>
            </a:r>
            <a:r>
              <a:rPr sz="16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评估方法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5429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每一步都留得下、看得懂、追得回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26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执行轨迹按行业通用字段记录，可回放、可归因，也可接入通用观测平台。</a:t>
            </a:r>
          </a:p>
        </p:txBody>
      </p:sp>
      <p:pic>
        <p:nvPicPr>
          <p:cNvPr id="9" name="Picture 8" descr="n08-evidence-tr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6292" y="2609035"/>
            <a:ext cx="4756722" cy="265491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09828" y="2253996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2" y="2171700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68680" y="2212848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1143000" y="2487168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325880" y="2432304"/>
            <a:ext cx="4364897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记什么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907792"/>
            <a:ext cx="4364897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哪个 Agent 调用了哪个能力、耗时与成本多少、每一步的输入输出与状态，全部逐条落盘。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" y="3828288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7532" y="3745992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68680" y="3787140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1143000" y="4061460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325880" y="4006596"/>
            <a:ext cx="4364897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为什么这样记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482084"/>
            <a:ext cx="4364897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字段采用通用语义，不绑定任何一家观测平台；整条链路可原样回放，审批与撤回也一并进流水。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398008"/>
            <a:ext cx="4913537" cy="3120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600" b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可追溯不是附加功能，它是「可信」这两个字的前提。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2331720"/>
            <a:ext cx="27432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724912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68680" y="2999232"/>
            <a:ext cx="7840751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现在</a:t>
            </a:r>
            <a:r>
              <a:rPr lang="zh-CN" altLang="en-US" sz="4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走</a:t>
            </a:r>
            <a:r>
              <a:rPr sz="40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到哪</a:t>
            </a:r>
            <a:r>
              <a:rPr lang="zh-CN" altLang="en-US" sz="4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里</a:t>
            </a:r>
            <a:r>
              <a:rPr sz="4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，</a:t>
            </a:r>
            <a:r>
              <a:rPr lang="zh-CN" altLang="en-US" sz="4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路在何方</a:t>
            </a:r>
            <a:endParaRPr sz="40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6481687" cy="351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能跑、能验、能复现；也把还没做到的部分一并说清楚</a:t>
            </a:r>
            <a:r>
              <a:rPr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落地与进展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5429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不是一张概念图，是能跑起来的东西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26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下列数字都可以用公开命令复现，验证报告由脚本生成而非手写。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" y="2199132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27532" y="2116836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68680" y="2157984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68680" y="2359152"/>
            <a:ext cx="2435275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651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16352"/>
            <a:ext cx="2435275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前端自动化测试通过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82847" y="2199132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500551" y="2116836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541699" y="2157984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541699" y="2359152"/>
            <a:ext cx="2435275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282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1699" y="2816352"/>
            <a:ext cx="2435275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服务端测试通过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5867" y="2199132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6173571" y="2116836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214719" y="2157984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214719" y="2359152"/>
            <a:ext cx="2435275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12 ×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4719" y="2816352"/>
            <a:ext cx="2435275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真实工种题 × 工种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28887" y="2199132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8846591" y="2116836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8887739" y="2157984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887739" y="2359152"/>
            <a:ext cx="2435275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4A6B52"/>
                </a:solidFill>
                <a:latin typeface="阿里妈妈刀隶体" pitchFamily="2" charset="-122"/>
                <a:ea typeface="阿里妈妈刀隶体" pitchFamily="2" charset="-122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7739" y="2816352"/>
            <a:ext cx="2435275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类型与规范检查错误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9828" y="3589020"/>
            <a:ext cx="5117439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827532" y="3506724"/>
            <a:ext cx="5117439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868680" y="3547872"/>
            <a:ext cx="5117439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2" name="Oval 31"/>
          <p:cNvSpPr/>
          <p:nvPr/>
        </p:nvSpPr>
        <p:spPr>
          <a:xfrm>
            <a:off x="1143000" y="3822192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325880" y="3767328"/>
            <a:ext cx="456879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已经能做的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4112472"/>
            <a:ext cx="4568799" cy="70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四个职能协同的完整闭环可离线跑通，包含真实工种实测、多维评分、人工审批与撤回，以及全链路留痕；也能挂接外部标准工具服务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46723" y="3589020"/>
            <a:ext cx="5117439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6164427" y="3506724"/>
            <a:ext cx="5117439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6205575" y="3547872"/>
            <a:ext cx="5117439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8" name="Oval 37"/>
          <p:cNvSpPr/>
          <p:nvPr/>
        </p:nvSpPr>
        <p:spPr>
          <a:xfrm>
            <a:off x="6479895" y="3822192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662775" y="3767328"/>
            <a:ext cx="456879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正在做的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79895" y="4182318"/>
            <a:ext cx="4568799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把评估层与执行层端到端打通、接入通用观测后端、扩充工种题库与真实任务样本，并对外发布可复用的能力接口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落地与进展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5429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我们还没做到什么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26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zh-CN" altLang="en-US"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复赛及以后的路线图</a:t>
            </a:r>
            <a:endParaRPr sz="1400" b="0" dirty="0">
              <a:solidFill>
                <a:srgbClr val="6B6250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41832" y="2267712"/>
            <a:ext cx="2571823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边界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9959" y="2267712"/>
            <a:ext cx="7589903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实际情况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2578608"/>
            <a:ext cx="10454335" cy="0"/>
          </a:xfrm>
          <a:prstGeom prst="rect">
            <a:avLst/>
          </a:prstGeom>
          <a:noFill/>
          <a:ln w="13970">
            <a:solidFill>
              <a:srgbClr val="514A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41832" y="2679192"/>
            <a:ext cx="2571823" cy="2052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稳 ≠ 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9959" y="2679192"/>
            <a:ext cx="758990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目前验证的是结论稳定，尚未验证它能预测真实表现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2999232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41832" y="3099816"/>
            <a:ext cx="257182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重复测量的含义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9959" y="3099816"/>
            <a:ext cx="758990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现在测的是裁判稳不稳，还不是 Agent 干活稳不稳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3419856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41832" y="3520440"/>
            <a:ext cx="257182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样本规模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9959" y="3520440"/>
            <a:ext cx="758990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题库覆盖三类工种，尚未覆盖更多行业与长流程任务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3840480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41832" y="3941064"/>
            <a:ext cx="257182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观测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9959" y="3941064"/>
            <a:ext cx="758990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通用字段已对齐，尚未接入观测后端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4261104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41832" y="4361688"/>
            <a:ext cx="257182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适用范围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9959" y="4361688"/>
            <a:ext cx="758990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只用一次、只有一个候选时，这套流程属于额外开销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" y="4681728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909828" y="4832604"/>
            <a:ext cx="10454335" cy="1125474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827532" y="4750308"/>
            <a:ext cx="10454335" cy="112547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868680" y="4791456"/>
            <a:ext cx="10454335" cy="1125474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0" name="Oval 29"/>
          <p:cNvSpPr/>
          <p:nvPr/>
        </p:nvSpPr>
        <p:spPr>
          <a:xfrm>
            <a:off x="1143000" y="5065776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325880" y="5010912"/>
            <a:ext cx="9905695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下一步最重要的一件事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486400"/>
            <a:ext cx="9905695" cy="2201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把「准入时的契合度评分」与「上线后的真实表现」做相关性验证：相关，就固化这套权重；不相关，就公开这个结果并重做维度体系。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开放与复用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5429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开源的不是一个演示，是三个能单独取用的部件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26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任何在做 Agent 评估的团队，都可以只拿走其中一个，而不必接受整套框架。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" y="2217420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27532" y="2135124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68680" y="2176272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1143000" y="2450592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325880" y="2395728"/>
            <a:ext cx="2789834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评估方法层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871216"/>
            <a:ext cx="2789834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重复测量与稳定性检查、评分偏差与一致性审计、抗偏见的评分提示词。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3374136"/>
            <a:ext cx="2789834" cy="0"/>
          </a:xfrm>
          <a:prstGeom prst="rect">
            <a:avLst/>
          </a:prstGeom>
          <a:noFill/>
          <a:ln w="9525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43000" y="3483864"/>
            <a:ext cx="2789834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4A6B52"/>
                </a:solidFill>
                <a:latin typeface="阿里妈妈刀隶体" pitchFamily="2" charset="-122"/>
                <a:ea typeface="阿里妈妈刀隶体" pitchFamily="2" charset="-122"/>
              </a:rPr>
              <a:t>适用于任何以模型当裁判的场景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67758" y="2217420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4385462" y="2135124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4426610" y="2176272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4700930" y="2450592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883810" y="2395728"/>
            <a:ext cx="2789834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能力注册内核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0930" y="2871216"/>
            <a:ext cx="2789834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可注册、可覆盖、可注销，同类能力允许替换实现，与具体框架解耦。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0930" y="3374136"/>
            <a:ext cx="2789834" cy="0"/>
          </a:xfrm>
          <a:prstGeom prst="rect">
            <a:avLst/>
          </a:prstGeom>
          <a:noFill/>
          <a:ln w="9525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00930" y="3483864"/>
            <a:ext cx="2789834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E5C76"/>
                </a:solidFill>
                <a:latin typeface="阿里妈妈刀隶体" pitchFamily="2" charset="-122"/>
                <a:ea typeface="阿里妈妈刀隶体" pitchFamily="2" charset="-122"/>
              </a:rPr>
              <a:t>可移植到其他 Agent 框架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25688" y="2217420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7943392" y="2135124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7984540" y="2176272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8" name="Oval 27"/>
          <p:cNvSpPr/>
          <p:nvPr/>
        </p:nvSpPr>
        <p:spPr>
          <a:xfrm>
            <a:off x="8258860" y="2450592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441740" y="2395728"/>
            <a:ext cx="2789834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观测投影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8860" y="2871216"/>
            <a:ext cx="2789834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把自有轨迹映射为行业标准字段，纯函数、零依赖。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58860" y="3374136"/>
            <a:ext cx="2789834" cy="0"/>
          </a:xfrm>
          <a:prstGeom prst="rect">
            <a:avLst/>
          </a:prstGeom>
          <a:noFill/>
          <a:ln w="9525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8258860" y="3483864"/>
            <a:ext cx="2789834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不锁定任何观测供应商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" y="4343400"/>
            <a:ext cx="1944563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开放项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32699" y="4343400"/>
            <a:ext cx="8217164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内容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8680" y="4654296"/>
            <a:ext cx="10454335" cy="0"/>
          </a:xfrm>
          <a:prstGeom prst="rect">
            <a:avLst/>
          </a:prstGeom>
          <a:noFill/>
          <a:ln w="13970">
            <a:solidFill>
              <a:srgbClr val="514A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941832" y="4754880"/>
            <a:ext cx="194456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开源协议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32699" y="4754880"/>
            <a:ext cx="8217164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MIT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8680" y="5001768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941832" y="5102352"/>
            <a:ext cx="194456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接口契约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32699" y="5102352"/>
            <a:ext cx="8217164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工具调用的参数结构、鉴权方式、错误约定与审计要求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8680" y="5349240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941832" y="5449824"/>
            <a:ext cx="194456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第三方依赖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32699" y="5449824"/>
            <a:ext cx="8217164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前端 React 生态、桌面端 Electron、服务端 FastAPI，均为开源协议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8680" y="5696712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团队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5429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团队介绍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909828" y="2217420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27532" y="2135124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68680" y="2176272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1143000" y="2450592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325880" y="2395728"/>
            <a:ext cx="2789834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【</a:t>
            </a:r>
            <a:r>
              <a:rPr sz="14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成员一</a:t>
            </a:r>
            <a:r>
              <a:rPr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 · </a:t>
            </a:r>
            <a:r>
              <a:rPr lang="zh-CN" altLang="en-US"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队长 </a:t>
            </a:r>
            <a:r>
              <a:rPr lang="en-US" altLang="zh-CN"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·</a:t>
            </a:r>
            <a:r>
              <a:rPr lang="zh-CN" altLang="en-US"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陈思丞</a:t>
            </a:r>
            <a:r>
              <a:rPr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" y="2871216"/>
            <a:ext cx="3009290" cy="12481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学校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 / 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公司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：</a:t>
            </a:r>
            <a:r>
              <a:rPr lang="zh-CN" altLang="en-US" sz="120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清华大学文化心理学研究中心</a:t>
            </a:r>
            <a:endParaRPr sz="1200" b="0" dirty="0">
              <a:solidFill>
                <a:srgbClr val="6B6250"/>
              </a:solidFill>
              <a:latin typeface="阿里妈妈刀隶体" pitchFamily="2" charset="-122"/>
              <a:ea typeface="阿里妈妈刀隶体" pitchFamily="2" charset="-122"/>
            </a:endParaRP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岗位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 / 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专业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：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心理学专业</a:t>
            </a:r>
            <a:endParaRPr sz="1200" b="0" dirty="0">
              <a:solidFill>
                <a:srgbClr val="6B6250"/>
              </a:solidFill>
              <a:latin typeface="阿里妈妈刀隶体" pitchFamily="2" charset="-122"/>
              <a:ea typeface="阿里妈妈刀隶体" pitchFamily="2" charset="-122"/>
            </a:endParaRP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核心技能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：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心理学 </a:t>
            </a:r>
            <a:r>
              <a:rPr lang="en-US" altLang="zh-CN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+ 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前端</a:t>
            </a:r>
            <a:r>
              <a:rPr lang="en-US" altLang="zh-CN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Web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、</a:t>
            </a:r>
            <a:r>
              <a:rPr lang="en-US" altLang="zh-CN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UI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设计</a:t>
            </a:r>
            <a:endParaRPr sz="1200" b="0" dirty="0">
              <a:solidFill>
                <a:srgbClr val="6B6250"/>
              </a:solidFill>
              <a:latin typeface="阿里妈妈刀隶体" pitchFamily="2" charset="-122"/>
              <a:ea typeface="阿里妈妈刀隶体" pitchFamily="2" charset="-122"/>
            </a:endParaRP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本项目分工：</a:t>
            </a:r>
            <a:r>
              <a:rPr lang="en-US" altLang="zh-CN"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AI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产品经历</a:t>
            </a:r>
            <a:endParaRPr sz="1200" b="0" dirty="0">
              <a:solidFill>
                <a:srgbClr val="6B6250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4467758" y="2217420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4385462" y="2135124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4426610" y="2176272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00930" y="2450592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883810" y="2395728"/>
            <a:ext cx="2789834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【</a:t>
            </a:r>
            <a:r>
              <a:rPr sz="14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成员二</a:t>
            </a:r>
            <a:r>
              <a:rPr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 · </a:t>
            </a:r>
            <a:r>
              <a:rPr lang="zh-CN" altLang="en-US"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队员</a:t>
            </a:r>
            <a:r>
              <a:rPr lang="en-US" altLang="zh-CN"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·</a:t>
            </a:r>
            <a:r>
              <a:rPr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7697" y="2884927"/>
            <a:ext cx="2789834" cy="12481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学校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 / 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公司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：【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填写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】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岗位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 / 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专业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：【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填写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】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核心技能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：【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填写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】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本项目分工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：【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填写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5688" y="2217420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7943392" y="2135124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7984540" y="2176272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4" name="Oval 23"/>
          <p:cNvSpPr/>
          <p:nvPr/>
        </p:nvSpPr>
        <p:spPr>
          <a:xfrm>
            <a:off x="8258860" y="2450592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441740" y="2395728"/>
            <a:ext cx="2789834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【</a:t>
            </a:r>
            <a:r>
              <a:rPr sz="14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成员三</a:t>
            </a:r>
            <a:r>
              <a:rPr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 · </a:t>
            </a:r>
            <a:r>
              <a:rPr lang="zh-CN" altLang="en-US"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队员</a:t>
            </a:r>
            <a:r>
              <a:rPr lang="en-US" altLang="zh-CN"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·</a:t>
            </a:r>
            <a:r>
              <a:rPr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6714" y="2871216"/>
            <a:ext cx="2789834" cy="12481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学校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 / 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公司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：【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填写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】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岗位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 / 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专业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：【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填写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】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核心技能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：【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填写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】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本项目分工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：【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填写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" y="4498848"/>
            <a:ext cx="1944563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项目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32699" y="4498848"/>
            <a:ext cx="8217164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内容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8680" y="4809744"/>
            <a:ext cx="10454335" cy="0"/>
          </a:xfrm>
          <a:prstGeom prst="rect">
            <a:avLst/>
          </a:prstGeom>
          <a:noFill/>
          <a:ln w="13970">
            <a:solidFill>
              <a:srgbClr val="514A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941832" y="4910328"/>
            <a:ext cx="194456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团队成果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32699" y="4910328"/>
            <a:ext cx="8217164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US" altLang="zh-CN" sz="1200" b="0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 + </a:t>
            </a:r>
            <a:r>
              <a:rPr lang="en-US" altLang="zh-CN" sz="1200" b="0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Eazo</a:t>
            </a:r>
            <a:r>
              <a:rPr lang="zh-CN" altLang="en-US" sz="1200" b="0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总决赛</a:t>
            </a:r>
            <a:endParaRPr sz="1200" b="0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868680" y="5175504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941832" y="5276088"/>
            <a:ext cx="194456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作品合集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32699" y="5276088"/>
            <a:ext cx="8217164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【</a:t>
            </a:r>
            <a:r>
              <a:rPr sz="1200" b="0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作品集或个人主页链接</a:t>
            </a:r>
            <a:r>
              <a:rPr sz="1200" b="0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】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8680" y="5541264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941832" y="5641848"/>
            <a:ext cx="194456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代码仓库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32699" y="5641848"/>
            <a:ext cx="8217164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200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https://github.com/EriXPsy/AgentCorp.git</a:t>
            </a:r>
            <a:endParaRPr sz="1200" b="0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868680" y="5907024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560320"/>
            <a:ext cx="7736207" cy="15696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lang="zh-CN" altLang="en-US" sz="280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未来的</a:t>
            </a:r>
            <a:r>
              <a:rPr sz="28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Agent </a:t>
            </a:r>
            <a:r>
              <a:rPr sz="28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只会越来越多</a:t>
            </a:r>
            <a:r>
              <a:rPr sz="28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  <a:p>
            <a:pPr>
              <a:spcAft>
                <a:spcPts val="400"/>
              </a:spcAft>
            </a:pPr>
            <a:r>
              <a:rPr sz="32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难的从来不是找到一个能用的</a:t>
            </a:r>
            <a:r>
              <a:rPr sz="32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，</a:t>
            </a:r>
          </a:p>
          <a:p>
            <a:pPr>
              <a:spcAft>
                <a:spcPts val="0"/>
              </a:spcAft>
            </a:pPr>
            <a:r>
              <a:rPr sz="32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而是找到那个合得来的</a:t>
            </a:r>
            <a:r>
              <a:rPr sz="32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449884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4773168"/>
            <a:ext cx="7318034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　|　MIT 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开源</a:t>
            </a:r>
            <a:endParaRPr sz="1200" b="0" dirty="0">
              <a:solidFill>
                <a:srgbClr val="6B6250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1294</Words>
  <Application>Microsoft Office PowerPoint</Application>
  <PresentationFormat>宽屏</PresentationFormat>
  <Paragraphs>273</Paragraphs>
  <Slides>23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27" baseType="lpstr">
      <vt:lpstr>阿里妈妈刀隶体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Sicheng Chen</cp:lastModifiedBy>
  <cp:revision>16</cp:revision>
  <dcterms:created xsi:type="dcterms:W3CDTF">2013-01-27T09:14:16Z</dcterms:created>
  <dcterms:modified xsi:type="dcterms:W3CDTF">2026-08-16T10:29:34Z</dcterms:modified>
  <cp:category/>
</cp:coreProperties>
</file>