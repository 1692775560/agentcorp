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n07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007" y="640080"/>
            <a:ext cx="5368146" cy="5577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57276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6250"/>
                </a:solidFill>
                <a:latin typeface="Inter"/>
              </a:rPr>
              <a:t>AgentCorp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21408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514A39"/>
                </a:solidFill>
                <a:latin typeface="Source Han Sans SC"/>
              </a:rPr>
              <a:t>为你的工作流，</a:t>
            </a:r>
          </a:p>
          <a:p>
            <a:pPr>
              <a:spcAft>
                <a:spcPts val="0"/>
              </a:spcAft>
            </a:pPr>
            <a:r>
              <a:rPr sz="3800" b="1">
                <a:solidFill>
                  <a:srgbClr val="514A39"/>
                </a:solidFill>
                <a:latin typeface="Source Han Sans SC"/>
              </a:rPr>
              <a:t>招一支合得来的团队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803904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096512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550" b="0">
                <a:solidFill>
                  <a:srgbClr val="6B6250"/>
                </a:solidFill>
                <a:latin typeface="Source Han Sans SC"/>
              </a:rPr>
              <a:t>不选最强的 Agent，选最合得来的那一个。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9BFAC"/>
                </a:solidFill>
                <a:latin typeface="Source Han Sans SC"/>
              </a:rPr>
              <a:t>面向企业与个人的 Agent 适配与协同平台　·　数字人事部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9BFAC"/>
                </a:solidFill>
                <a:latin typeface="Source Han Sans SC"/>
              </a:rPr>
              <a:t>MIT 开源　|　团队：【请填写】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一页纸速览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一页纸速览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为谁做、解决什么、怎么解、凭什么可信。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4712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2258568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项目名称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615184"/>
            <a:ext cx="460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Source Han Sans SC"/>
              </a:rPr>
              <a:t>AgentCorp：Agent 适配与协同平台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4427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575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61607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6199" y="2258568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问题与场景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15184"/>
            <a:ext cx="460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Source Han Sans SC"/>
              </a:rPr>
              <a:t>Agent 的供给在爆发，选型的依据却没有跟上。跑分衡量的是模型的通用能力，回答不了「它能不能融进我这条工作流」。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4712" y="3758184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89304" y="3703320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核心解决方案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" y="4059936"/>
            <a:ext cx="460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Source Han Sans SC"/>
              </a:rPr>
              <a:t>用真实工种任务做多维实测，算出「它与你」的契合度；再把合适的几个 Agent 编成一支队伍，嵌进你原有的流程。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64427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5575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61607" y="3758184"/>
            <a:ext cx="91440" cy="91440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6199" y="3703320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创新点与差异化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4059936"/>
            <a:ext cx="460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Source Han Sans SC"/>
              </a:rPr>
              <a:t>其一，评估发生在真实工作流里——模糊需求、多轮澄清、人在回路，而不是一道标准题；其二，评估视角是参数，同一个 Agent 对不同的人给出不同的契合度。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7532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8680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24712" y="5202936"/>
            <a:ext cx="91440" cy="91440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9304" y="5148072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开放 / 复用价值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504688"/>
            <a:ext cx="460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Source Han Sans SC"/>
              </a:rPr>
              <a:t>MIT 开源。评估方法层、能力注册内核、观测投影三者互不依赖，任何做 Agent 评估的团队都可以只取走其中一个。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6723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64427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05575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1607" y="5202936"/>
            <a:ext cx="91440" cy="91440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6199" y="5148072"/>
            <a:ext cx="44773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14A39"/>
                </a:solidFill>
                <a:latin typeface="Source Han Sans SC"/>
              </a:rPr>
              <a:t>当前进展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1607" y="5504688"/>
            <a:ext cx="4605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Source Han Sans SC"/>
              </a:rPr>
              <a:t>四个职能 Agent 与五个能力单元可运行，闭环能离线跑通并留存证据，651 + 282 项自动化测试通过。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供给在增长，契合才是解药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问题已经不是「有没有 Agent 可用」，而是「哪一个真的接得住我的活」。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一个职场人的一天，从来不是一道题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需求半路才说清、上下文散在几个窗口里、真正的决定还得自己拍板。</a:t>
            </a:r>
          </a:p>
        </p:txBody>
      </p:sp>
      <p:pic>
        <p:nvPicPr>
          <p:cNvPr id="9" name="Picture 8" descr="n10-one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6907" y="2084832"/>
            <a:ext cx="3957880" cy="1554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40233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968496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43984"/>
            <a:ext cx="278983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一句「帮我把这个整理一下」开始，边做边问才知道到底要什么。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775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546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2661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00930" y="40233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3810" y="3968496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下午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930" y="4443984"/>
            <a:ext cx="278983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同一件事在三个工具之间来回搬运，上下文靠人脑接力。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568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4339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8454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8860" y="402336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1740" y="3968496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下班前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860" y="4443984"/>
            <a:ext cx="278983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真正有风险的那一步，仍然要自己确认了才敢发出去。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58384"/>
            <a:ext cx="104543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一天里真正耗人的，不是难题，而是拼接——把工具、上下文和判断一次次接起来。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Agent 供给在增长，契合才是选择困难症的解药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候选每周都在变多，可用来判断的依据，还停留在几年前。</a:t>
            </a:r>
          </a:p>
        </p:txBody>
      </p:sp>
      <p:pic>
        <p:nvPicPr>
          <p:cNvPr id="9" name="Picture 8" descr="n01-choice-over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003" y="2267712"/>
            <a:ext cx="2092486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我们能看到的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4364897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star 数、一份写得漂亮的 README、别人一句「挺好用」，以及某张榜单上的名次。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401116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92887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97002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24434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189476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我们真正想问的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64964"/>
            <a:ext cx="4364897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它接不接得住我这类活？多轮沟通下来顺不顺手？放进我现有的流程里，会不会卡住？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99176"/>
            <a:ext cx="49135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看得到的都是别人的经验，想问的全都关于自己。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跑分很高，不等于能替你干这份活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榜单衡量的是模型有多强，而你要判断的是它与你这条流程合不合得上。</a:t>
            </a:r>
          </a:p>
        </p:txBody>
      </p:sp>
      <p:pic>
        <p:nvPicPr>
          <p:cNvPr id="9" name="Picture 8" descr="n02-score-not-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934" y="2558957"/>
            <a:ext cx="5018080" cy="28007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26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榜单里的题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07792"/>
            <a:ext cx="4260354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题面清晰、答案唯一、一问一答，没有历史，也没有你的偏好。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35502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553206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594354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386867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813810"/>
            <a:ext cx="42603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你手上的活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89298"/>
            <a:ext cx="426035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需求先是模糊的，边聊边清楚；还带着你的口味、习惯和既定流程。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23510"/>
            <a:ext cx="480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强弱是模型的属性，合不合适是你和它之间的关系。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09666"/>
            <a:ext cx="480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同一个模型，在离线评测里与在真人对话里，行为并不一致。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Inter"/>
              </a:rPr>
              <a:t>Wang, Ho &amp; Koyejo, Patterns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真实的职场，和干净的跑分榜，隔着一整个现场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所以评估必须回到同样的语境里发生，而不是在一间没有噪声的实验室里完成。</a:t>
            </a:r>
          </a:p>
        </p:txBody>
      </p:sp>
      <p:pic>
        <p:nvPicPr>
          <p:cNvPr id="9" name="Picture 8" descr="n03-fuzzy-to-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0685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实验室里的评测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条件干净、任务封闭、一次成型：题目给定，答案可对照，过程不必留痕。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1000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727704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76885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04317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988308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现场发生的工作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63796"/>
            <a:ext cx="4208082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需求模糊、要多轮澄清、人始终在回路里：关键处由人拍板，而不是全自动跑完。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75672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我们要测的，正是它在这种「不干净」里的表现。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所以我们换一种测法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不比通用能力的高下，只比它和你的活合不合得来。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我们给出的不是分数，是契合度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契合度 = 你在意什么 × 它在这些方面的实测表现，因人而异，也因活而异。</a:t>
            </a:r>
          </a:p>
        </p:txBody>
      </p:sp>
      <p:pic>
        <p:nvPicPr>
          <p:cNvPr id="9" name="Picture 8" descr="n05-multidim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56" y="2066544"/>
            <a:ext cx="3116979" cy="3794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一个总分说明不了什么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364897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有人最怕返工，有人最要速度。压成一个数，取舍的信息就没了。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17214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534918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576066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3850386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795522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所以我们把视角变成参数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71010"/>
            <a:ext cx="4364897" cy="568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六个通用维度加工种专项维度分别成绩，再按你的权重加权；客观榜与主观榜并列呈现，不合成唯一名次。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729734"/>
            <a:ext cx="436489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839462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6B52"/>
                </a:solidFill>
                <a:latin typeface="Source Han Sans SC"/>
              </a:rPr>
              <a:t>同一个 Agent，换个人看，排名就不同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07558"/>
            <a:ext cx="49135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契合度不是它有多好，而是它与你有多合。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题目取自真实工种，判定不靠印象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所有候选做同一套题、按同一份标准判定，新发布的 Agent 也能被公平地看见。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写代码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合并脏数据并补测试、定位并发计数错误、给公开接口做安全加固。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写文案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同一内容改写给不同读者、事实校核并标注来源、压缩字数而不丢信息。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做图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从一段需求描述推出画面参数、维持系列图的一致性、在冲突约束下取舍。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730752"/>
            <a:ext cx="104543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两道设计，让分数经得起追问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" y="4101084"/>
            <a:ext cx="5117439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7532" y="4018788"/>
            <a:ext cx="5117439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059936"/>
            <a:ext cx="5117439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3000" y="433425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279392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逐条判定，且必须引用原文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54880"/>
            <a:ext cx="4568799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裁判要为每一条要点标注命中与否，找不到原文支撑的一律记未命中。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6723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64427" y="4018788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05575" y="4059936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79895" y="433425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2775" y="4279392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题面内置反注水探针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895" y="4754880"/>
            <a:ext cx="4568799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声称「已充分测试」却给不出用例，会被当场识别——空话说得越漂亮，暴露得越明显。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358384"/>
            <a:ext cx="104543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我们不追求测得多，只追求每一分都能指回一段原文。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一个 Agent 往往不够，要的是一次排兵布阵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按职能挑人、按流程落位——让队伍嵌进你已有的工作方式，而不是让你迁就它们。</a:t>
            </a:r>
          </a:p>
        </p:txBody>
      </p:sp>
      <p:pic>
        <p:nvPicPr>
          <p:cNvPr id="9" name="Picture 8" descr="n09-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689" y="2231136"/>
            <a:ext cx="2678917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52012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先看阵型，再看单点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520124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组队看的不是每个位置上最强的那个，而是这几个凑在一起，能不能把这条流程从头跑到尾。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99288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910584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95173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22605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171188"/>
            <a:ext cx="52012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落位到你现有的流程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46676"/>
            <a:ext cx="5201244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哪个环节交给谁、交接时带什么上下文、哪些环节仍然由人补位，都在组队时一并定下来。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62600"/>
            <a:ext cx="5749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选人只是第一步，摆得对位置，队伍才成立。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让这支队伍真的能干活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分工、交接、留痕，以及在关键处始终由人说了算。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四个职能，边界写在代码里而不是写在文档里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谁能做什么、不能做什么、哪些动作必须人点头，都是程序会读取的字段。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1914067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提出需求、设定偏好，并对上线与撤回拍板。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14A39"/>
                </a:solidFill>
                <a:latin typeface="Source Han Sans SC"/>
              </a:rPr>
              <a:t>唯一放行权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73703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91407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32555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06875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9755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06875" y="2871216"/>
            <a:ext cx="1914067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拆解任务、分发执行，沿途传递上下文与状态。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6875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6875" y="3483864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Source Han Sans SC"/>
              </a:rPr>
              <a:t>不可绕过决策方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7579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55283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96431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0751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3631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出题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751" y="2871216"/>
            <a:ext cx="1914067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把岗位要求拆成考察点，多轮提问并追问。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0751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0751" y="3483864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6B52"/>
                </a:solidFill>
                <a:latin typeface="Source Han Sans SC"/>
              </a:rPr>
              <a:t>不参与打分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01455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19159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60307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4627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17507" y="2395728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评分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4627" y="2871216"/>
            <a:ext cx="1914067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>
                <a:solidFill>
                  <a:srgbClr val="6B6250"/>
                </a:solidFill>
                <a:latin typeface="Source Han Sans SC"/>
              </a:rPr>
              <a:t>多维度实测评分，并做重复测量与稳定性检查。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34627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34627" y="3483864"/>
            <a:ext cx="19140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不参与放行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4206240"/>
            <a:ext cx="104543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交接时传递什么，决定了这条链路可不可信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" y="4590288"/>
            <a:ext cx="215364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交接环节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41785" y="4590288"/>
            <a:ext cx="29899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传递什么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8086" y="4590288"/>
            <a:ext cx="48717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为什么这样设计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" y="490118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001768"/>
            <a:ext cx="215364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决策 → 出题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1785" y="5001768"/>
            <a:ext cx="29899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岗位要求与偏好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8086" y="5001768"/>
            <a:ext cx="4871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题目必须对准真实需求，而不是通用题库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" y="52486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" y="5349240"/>
            <a:ext cx="215364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出题 → 评分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1785" y="5349240"/>
            <a:ext cx="29899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实测记录与考察点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8086" y="5349240"/>
            <a:ext cx="4871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只依据实际作答判定，不看候选来自哪里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8680" y="55961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1832" y="5696712"/>
            <a:ext cx="215364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评分 → 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41785" y="5696712"/>
            <a:ext cx="29899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分数、稳定性与原文证据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8086" y="5696712"/>
            <a:ext cx="487177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决策者拿到的是证据，不是一句结论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94360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人不在流程之外，而在回路之上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高风险动作在人点头之前真的执行不了——这是一道门，不是一句提示语。</a:t>
            </a:r>
          </a:p>
        </p:txBody>
      </p:sp>
      <p:pic>
        <p:nvPicPr>
          <p:cNvPr id="9" name="Picture 8" descr="n06-human-i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5256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拦得住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一旦判定为高风险，动作不会执行，流程原地挂起等人决定；人点了放行，它才真正发生。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1000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727704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76885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04317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3988308"/>
            <a:ext cx="42080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撤得回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63796"/>
            <a:ext cx="4208082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已执行的动作按相反顺序撤销；哪一条撤不掉会被明确报出来，不假装「已完全回滚」。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79720"/>
            <a:ext cx="475672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1">
                <a:solidFill>
                  <a:srgbClr val="C2673F"/>
                </a:solidFill>
                <a:latin typeface="Source Han Sans SC"/>
              </a:rPr>
              <a:t>实测：判定「录用」之后，台账里是 0 条记录——它没有自己动手。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凭什么相信这个结论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先解决一个前提：让模型当裁判，裁判自己靠不靠谱。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同一份答案连打三次，分数常常并不一样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所以我们不采信任何一次单独的打分，而是用一整套办法把噪声压下去。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重复测量，取严不取宽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456879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同一份答案独立评多次，每一次都达标才算达标；有一次掉下来，就不算可靠。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4427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5575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9895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2775" y="239572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打飘了要能被发现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2871216"/>
            <a:ext cx="456879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检查多次评分之间的离散程度，波动过大就下调置信度并转人工复核。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7532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3000" y="4169664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11480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抵抗已知的偏见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90288"/>
            <a:ext cx="456879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每轮打乱维度顺序以避开位置效应，并明确要求不因回答长就给高分。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64427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5575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9895" y="416966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775" y="411480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分数的来源必须标清楚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895" y="4590288"/>
            <a:ext cx="456879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真实裁判、部分降级还是完全降级，逐条标注；降级产生的结论不进经验库。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650992"/>
            <a:ext cx="104543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我们只主张结论稳定，不主张结论正确——后者需要长期的真实数据来验证。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每一步都留得下、看得懂、追得回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执行轨迹按行业通用字段记录，可回放、可归因，也可接入通用观测平台。</a:t>
            </a:r>
          </a:p>
        </p:txBody>
      </p:sp>
      <p:pic>
        <p:nvPicPr>
          <p:cNvPr id="9" name="Picture 8" descr="n08-evidence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92" y="2609035"/>
            <a:ext cx="4756722" cy="26549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记什么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07792"/>
            <a:ext cx="4364897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哪个 Agent 调用了哪个能力、耗时与成本多少、每一步的输入输出与状态，全部逐条落盘。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282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7532" y="37459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7871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43000" y="4061460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006596"/>
            <a:ext cx="43648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为什么这样记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82084"/>
            <a:ext cx="4364897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字段采用通用语义，不绑定任何一家观测平台；整条链路可原样回放，审批与撤回也一并进流水。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9135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C2673F"/>
                </a:solidFill>
                <a:latin typeface="Source Han Sans SC"/>
              </a:rPr>
              <a:t>可追溯不是附加功能，它是「可信」这两个字的前提。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Inter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Source Han Sans SC"/>
              </a:rPr>
              <a:t>现在到哪了，以及往哪走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Source Han Sans SC"/>
              </a:rPr>
              <a:t>能跑、能验、能复现；也把还没做到的部分一并说清楚。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不是一张概念图，是能跑起来的东西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下列数字都可以用公开命令复现，验证报告由脚本生成而非手写。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514A39"/>
                </a:solidFill>
                <a:latin typeface="Inter"/>
              </a:rPr>
              <a:t>651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前端自动化测试通过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284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0055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4169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1699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514A39"/>
                </a:solidFill>
                <a:latin typeface="Inter"/>
              </a:rPr>
              <a:t>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1699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服务端测试通过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357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471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4719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514A39"/>
                </a:solidFill>
                <a:latin typeface="Inter"/>
              </a:rPr>
              <a:t>12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4719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真实工种题 × 工种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2888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4659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8773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739" y="2359152"/>
            <a:ext cx="24352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4A6B52"/>
                </a:solidFill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739" y="2816352"/>
            <a:ext cx="24352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250"/>
                </a:solidFill>
                <a:latin typeface="Source Han Sans SC"/>
              </a:rPr>
              <a:t>类型与规范检查错误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7532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43000" y="38221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376732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已经能做的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242816"/>
            <a:ext cx="4568799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四个职能协同的完整闭环可离线跑通，包含真实工种实测、多维评分、人工审批与撤回，以及全链路留痕；也能挂接外部标准工具服务。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6723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64427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05575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79895" y="38221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2775" y="376732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正在做的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9895" y="4242816"/>
            <a:ext cx="4568799" cy="440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把评估层与执行层端到端打通、接入通用观测后端、扩充工种题库与真实任务样本，并对外发布可复用的能力接口。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我们还没做到什么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一个说不清自己边界的评估系统，本身就不值得被信任。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67712"/>
            <a:ext cx="25718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959" y="2267712"/>
            <a:ext cx="75899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实际情况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78608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257182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稳 ≠ 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9959" y="2679192"/>
            <a:ext cx="75899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目前验证的是结论稳定，尚未验证它能预测真实表现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99923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099816"/>
            <a:ext cx="257182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重复测量的含义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959" y="3099816"/>
            <a:ext cx="75899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现在测的是裁判稳不稳，还不是 Agent 干活稳不稳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4198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520440"/>
            <a:ext cx="257182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样本规模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9959" y="3520440"/>
            <a:ext cx="75899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题库覆盖三类工种，尚未覆盖更多行业与长流程任务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84048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941064"/>
            <a:ext cx="257182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观测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9959" y="3941064"/>
            <a:ext cx="75899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通用字段已对齐，尚未接入观测后端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2611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361688"/>
            <a:ext cx="257182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适用范围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9959" y="4361688"/>
            <a:ext cx="758990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只用一次、只有一个候选时，这套流程属于额外开销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6817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28" y="4832604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7532" y="4750308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4791456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43000" y="506577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5010912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下一步最重要的一件事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9905695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把「准入时的契合度评分」与「上线后的真实表现」做相关性验证：相关，就固化这套权重；不相关，就公开这个结果并重做维度体系。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开源的不是一个演示，是三个能单独取用的部件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任何在做 Agent 评估的团队，都可以只拿走其中一个，而不必接受整套框架。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评估方法层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重复测量与稳定性检查、评分偏差与一致性审计、抗偏见的评分提示词。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A6B52"/>
                </a:solidFill>
                <a:latin typeface="Source Han Sans SC"/>
              </a:rPr>
              <a:t>适用于任何以模型当裁判的场景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6775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546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661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8381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能力注册内核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930" y="2871216"/>
            <a:ext cx="2789834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可注册、可覆盖、可注销，同类能力允许替换实现，与具体框架解耦。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93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930" y="3483864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Source Han Sans SC"/>
              </a:rPr>
              <a:t>可移植到其他 Agent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568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4339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8454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174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观测投影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8860" y="2871216"/>
            <a:ext cx="2789834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把自有轨迹映射为行业标准字段，纯函数、零依赖。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886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8860" y="3483864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不锁定任何观测供应商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4343400"/>
            <a:ext cx="1944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开放项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4343400"/>
            <a:ext cx="82171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654296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754880"/>
            <a:ext cx="194456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开源协议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4754880"/>
            <a:ext cx="82171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MIT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00176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5102352"/>
            <a:ext cx="194456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接口契约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2699" y="5102352"/>
            <a:ext cx="82171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工具调用的参数结构、鉴权方式、错误约定与审计要求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534924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" y="5449824"/>
            <a:ext cx="194456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第三方依赖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99" y="5449824"/>
            <a:ext cx="82171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前端 React 生态、桌面端 Electron、服务端 FastAPI，均为开源协议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69671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Inte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团队介绍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请按官方要求填写：成员背景、团队分工与过往成果。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【成员一 · 角色】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学校 / 公司：【填写】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岗位 / 专业：【填写】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核心技能：【填写】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本项目分工：【填写】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【成员二 · 角色】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学校 / 公司：【填写】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岗位 / 专业：【填写】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核心技能：【填写】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本项目分工：【填写】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Source Han Sans SC"/>
              </a:rPr>
              <a:t>【成员三 · 角色】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学校 / 公司：【填写】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岗位 / 专业：【填写】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核心技能：【填写】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250"/>
                </a:solidFill>
                <a:latin typeface="Source Han Sans SC"/>
              </a:rPr>
              <a:t>本项目分工：【填写】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498848"/>
            <a:ext cx="1944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项目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2699" y="4498848"/>
            <a:ext cx="82171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内容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80974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910328"/>
            <a:ext cx="1944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团队成果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32699" y="4910328"/>
            <a:ext cx="8217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【过往项目经历 / 获奖经历】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1755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276088"/>
            <a:ext cx="1944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作品合集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5276088"/>
            <a:ext cx="8217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【作品集或个人主页链接】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54126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5641848"/>
            <a:ext cx="1944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代码仓库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5641848"/>
            <a:ext cx="82171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【仓库地址】（MIT 开源）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90702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60320"/>
            <a:ext cx="773620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6B6250"/>
                </a:solidFill>
                <a:latin typeface="Source Han Sans SC"/>
              </a:rPr>
              <a:t>Agent 只会越来越多。</a:t>
            </a:r>
          </a:p>
          <a:p>
            <a:pPr>
              <a:spcAft>
                <a:spcPts val="40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难的从来不是找到一个能用的，</a:t>
            </a:r>
          </a:p>
          <a:p>
            <a:pPr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而是找到那个合得来的。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49884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773168"/>
            <a:ext cx="731803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6250"/>
                </a:solidFill>
                <a:latin typeface="Source Han Sans SC"/>
              </a:rPr>
              <a:t>AgentCorp　|　MIT 开源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82512"/>
            <a:ext cx="104543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Inter"/>
              </a:rPr>
              <a:t>AgentCorp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6179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Source Han Sans SC"/>
              </a:rPr>
              <a:t>附录：评分维度对照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36192"/>
            <a:ext cx="89907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Source Han Sans SC"/>
              </a:rPr>
              <a:t>本页供评审按维度检索对应内容；现场讲述可跳过。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267712"/>
            <a:ext cx="2780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评分维度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9045" y="2267712"/>
            <a:ext cx="7945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权重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9935" y="2267712"/>
            <a:ext cx="643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Source Han Sans SC"/>
              </a:rPr>
              <a:t>对应页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78608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278090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场景价值与行业可复制性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9045" y="2679192"/>
            <a:ext cx="79458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9935" y="2679192"/>
            <a:ext cx="64399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03–06 页：一天的现场 → 选择困难 → 跑分失配 → 现场与榜单的差距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5409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154680"/>
            <a:ext cx="278090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多 Agent 协同与自主闭环能力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9045" y="3154680"/>
            <a:ext cx="79458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9935" y="3154680"/>
            <a:ext cx="64399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10–11 页：四职能分工与交接、人在回路与撤回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52958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630168"/>
            <a:ext cx="278090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Skill 工程体系与生态复用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9045" y="3630168"/>
            <a:ext cx="79458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9935" y="3630168"/>
            <a:ext cx="64399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08 页：真实工种题与判定设计；第 16 页：可复用部件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00507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4105656"/>
            <a:ext cx="278090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工程落地与安全可审计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9045" y="4105656"/>
            <a:ext cx="79458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935" y="4105656"/>
            <a:ext cx="64399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12–14 页：裁判可靠性、全链路留痕、可复现证据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48056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4581144"/>
            <a:ext cx="278090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开放 / 开源贡献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9045" y="4581144"/>
            <a:ext cx="79458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C2673F"/>
                </a:solidFill>
                <a:latin typeface="Source Han Sans SC"/>
              </a:rPr>
              <a:t>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935" y="4581144"/>
            <a:ext cx="64399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Source Han Sans SC"/>
              </a:rPr>
              <a:t>第 16 页：三个可单独取用的部件与接口契约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95604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