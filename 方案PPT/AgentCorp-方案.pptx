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n07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417320"/>
            <a:ext cx="5760720" cy="32152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148132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6250"/>
                </a:solidFill>
                <a:latin typeface="Inter"/>
              </a:rPr>
              <a:t>AgentCorp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514A39"/>
                </a:solidFill>
                <a:latin typeface="Source Han Sans SC"/>
              </a:rPr>
              <a:t>找到那个</a:t>
            </a:r>
          </a:p>
          <a:p>
            <a:pPr>
              <a:spcAft>
                <a:spcPts val="0"/>
              </a:spcAft>
            </a:pPr>
            <a:r>
              <a:rPr sz="4000" b="1">
                <a:solidFill>
                  <a:srgbClr val="514A39"/>
                </a:solidFill>
                <a:latin typeface="Source Han Sans SC"/>
              </a:rPr>
              <a:t>真正合得来的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75887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95020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500" b="0">
                <a:solidFill>
                  <a:srgbClr val="6B6250"/>
                </a:solidFill>
                <a:latin typeface="Source Han Sans SC"/>
              </a:rPr>
              <a:t>把「这个 Agent 适不适合我的活」，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6B6250"/>
                </a:solidFill>
                <a:latin typeface="Source Han Sans SC"/>
              </a:rPr>
              <a:t>从凭感觉，变成有依据。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9BFAC"/>
                </a:solidFill>
                <a:latin typeface="Source Han Sans SC"/>
              </a:rPr>
              <a:t>面向企业与个人的 Agent 适配与协同平台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9BFAC"/>
                </a:solidFill>
                <a:latin typeface="Source Han Sans SC"/>
              </a:rPr>
              <a:t>MIT 开源　|　团队：【请填写】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一页纸速览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一页纸速览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为谁做、解决什么、怎么解、凭什么可信。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07692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025396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066544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4712" y="2304288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249424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项目名称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615184"/>
            <a:ext cx="460537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AgentCorp：Agent 适配与协同平台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107692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4427" y="2025396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5575" y="2066544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61607" y="2304288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6199" y="2249424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问题与场景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2615184"/>
            <a:ext cx="460537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Agent 数量爆发，但选型全凭感觉。跑分测的是模型通用能力，不是「它能不能融进我这条工作流」。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515868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7532" y="3433572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474720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4712" y="3712464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9304" y="3657600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核心解决方案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" y="4023360"/>
            <a:ext cx="460537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用真实工种任务做多维实测，算出「它与你的契合度」；再把合适的几个 Agent 组成团队，嵌进你原有的工作流。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515868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64427" y="3433572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5575" y="3474720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61607" y="3712464"/>
            <a:ext cx="91440" cy="91440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6199" y="3657600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创新点与差异化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4023360"/>
            <a:ext cx="460537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① 以真实任务与真实工作流为评估基准，不做通用跑分　② 评估视角参数化：同一 Agent 对不同人给出不同契合度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9828" y="4924044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7532" y="4841748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8680" y="4882896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24712" y="5120640"/>
            <a:ext cx="91440" cy="91440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9304" y="5065776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开放 / 复用价值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431536"/>
            <a:ext cx="460537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MIT 开源。评估方法层、能力注册内核、观测投影三者可被任何做 Agent 评估的团队单独取用。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6723" y="4924044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64427" y="4841748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05575" y="4882896"/>
            <a:ext cx="5117439" cy="118872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61607" y="5120640"/>
            <a:ext cx="91440" cy="91440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6199" y="5065776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当前进展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1607" y="5431536"/>
            <a:ext cx="460537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四个职能 Agent 与五个能力单元可运行，闭环可离线跑通并留存证据；651 + 282 项自动化测试通过。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Agent 变多了，选择反而更难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从「有没有 Agent 可用」，到「哪个 Agent 真的帮得上我」。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每天都有新 Agent，可我该用哪一个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开源仓库、模型广场、各家产品——候选越来越多，可判断依据几乎没有变。</a:t>
            </a:r>
          </a:p>
        </p:txBody>
      </p:sp>
      <p:pic>
        <p:nvPicPr>
          <p:cNvPr id="9" name="Picture 8" descr="n01-choice-over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934" y="2267712"/>
            <a:ext cx="5018080" cy="280078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199132"/>
            <a:ext cx="4808994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116836"/>
            <a:ext cx="4808994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57984"/>
            <a:ext cx="4808994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32304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377440"/>
            <a:ext cx="42603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能看到的信息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52928"/>
            <a:ext cx="4260354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star 数、README 写得好不好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别人一句「挺好用」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一张跑分榜上的名次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918204"/>
            <a:ext cx="4808994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835908"/>
            <a:ext cx="4808994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877056"/>
            <a:ext cx="4808994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415137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4096512"/>
            <a:ext cx="42603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真正想知道的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72000"/>
            <a:ext cx="4260354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它能不能接住我这类活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多轮沟通下来顺不顺手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放进我现有流程里会不会卡住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632704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两者之间，隔着一整条鸿沟。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跑分很高，不代表能替你干这份活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标准化题库测的是模型的通用能力；而你的活有上下文、有约束、要交付。</a:t>
            </a:r>
          </a:p>
        </p:txBody>
      </p:sp>
      <p:pic>
        <p:nvPicPr>
          <p:cNvPr id="9" name="Picture 8" descr="n02-score-not-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2231136"/>
            <a:ext cx="5227167" cy="291748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180844"/>
            <a:ext cx="4704450" cy="13258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098548"/>
            <a:ext cx="4704450" cy="1325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39696"/>
            <a:ext cx="4704450" cy="13258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14016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359152"/>
            <a:ext cx="4155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榜单里的题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34640"/>
            <a:ext cx="415581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题面清晰、答案唯一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单轮问答，无历史、无偏好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71316"/>
            <a:ext cx="4704450" cy="13258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589020"/>
            <a:ext cx="4704450" cy="1325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630168"/>
            <a:ext cx="4704450" cy="13258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3904488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849624"/>
            <a:ext cx="4155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你手上的活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325112"/>
            <a:ext cx="415581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需求先是模糊的，边聊边清楚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有你的口味、习惯与既定流程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75504"/>
            <a:ext cx="480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250" b="0">
                <a:solidFill>
                  <a:srgbClr val="6B6250"/>
                </a:solidFill>
                <a:latin typeface="Source Han Sans SC"/>
              </a:rPr>
              <a:t>同一个模型，在离线评测里和在你的对话里，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6B6250"/>
                </a:solidFill>
                <a:latin typeface="Source Han Sans SC"/>
              </a:rPr>
              <a:t>行为并不一致。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C9BFAC"/>
                </a:solidFill>
                <a:latin typeface="Inter"/>
              </a:rPr>
              <a:t>Wang, Ho &amp; Koyejo, Patterns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真实的活，是这样发生的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所以评估必须发生在同样的语境里，而不是在一道标准题上。</a:t>
            </a:r>
          </a:p>
        </p:txBody>
      </p:sp>
      <p:pic>
        <p:nvPicPr>
          <p:cNvPr id="9" name="Picture 8" descr="n03-fuzzy-to-cl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119" y="2377440"/>
            <a:ext cx="5174895" cy="28883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180844"/>
            <a:ext cx="4756722" cy="96012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098548"/>
            <a:ext cx="4756722" cy="960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39696"/>
            <a:ext cx="4756722" cy="96012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14016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359152"/>
            <a:ext cx="42080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① 需求一开始是模糊的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34640"/>
            <a:ext cx="4208082" cy="82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「帮我把这个整理一下」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287268"/>
            <a:ext cx="4756722" cy="96012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204972"/>
            <a:ext cx="4756722" cy="960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246120"/>
            <a:ext cx="4756722" cy="96012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352044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465576"/>
            <a:ext cx="42080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② 靠多轮对话逐步澄清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941064"/>
            <a:ext cx="4208082" cy="82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追问、举例、修正，才对齐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" y="4393692"/>
            <a:ext cx="4756722" cy="96012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2" y="4311396"/>
            <a:ext cx="4756722" cy="960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4352544"/>
            <a:ext cx="4756722" cy="96012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3000" y="4626864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4572000"/>
            <a:ext cx="42080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③ 人始终在回路里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47488"/>
            <a:ext cx="4208082" cy="82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关键处由人拍板，不是全自动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22976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673F"/>
                </a:solidFill>
                <a:latin typeface="Source Han Sans SC"/>
              </a:rPr>
              <a:t>评估要测的，正是这三件事做得好不好。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所以我们换一种测法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不比通用能力，比「和你的活合不合得来」。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我们测的是契合度，不是分数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同一个 Agent，对不同的人、不同的活，会得到不同的契合度。</a:t>
            </a:r>
          </a:p>
        </p:txBody>
      </p:sp>
      <p:pic>
        <p:nvPicPr>
          <p:cNvPr id="9" name="Picture 8" descr="n05-multidim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2267712"/>
            <a:ext cx="5227167" cy="291748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180844"/>
            <a:ext cx="4704450" cy="1353312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098548"/>
            <a:ext cx="4704450" cy="13533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39696"/>
            <a:ext cx="4704450" cy="1353312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14016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359152"/>
            <a:ext cx="4155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一个总分说明不了什么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34640"/>
            <a:ext cx="415581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有人最看重不返工，有人最看重快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压成一个数，取舍信息就没了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80460"/>
            <a:ext cx="4704450" cy="1874519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598164"/>
            <a:ext cx="4704450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639312"/>
            <a:ext cx="4704450" cy="1874519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391363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858768"/>
            <a:ext cx="4155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所以我们做两件事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334256"/>
            <a:ext cx="4155810" cy="704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按六个通用维度 + 工种专项维度分别打分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把「你是谁、你在意什么」作为参数传入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客观榜与主观榜并列，不合成唯一名次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928615"/>
            <a:ext cx="4155810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038343"/>
            <a:ext cx="4155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A6B52"/>
                </a:solidFill>
                <a:latin typeface="Source Han Sans SC"/>
              </a:rPr>
              <a:t>契合度 = 你的权重 × 它的表现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题目来自真实工种，不是学术数据集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所有候选做同一套题、按同一份标准判定，新发布的 Agent 也能被公平看见。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写代码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278983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合并脏数据并给测试用例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定位并发计数错误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给公开接口做安全加固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写文案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930" y="2871216"/>
            <a:ext cx="278983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同一内容改写给不同读者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事实性校核与来源标注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压缩到指定字数不失信息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做图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8860" y="2871216"/>
            <a:ext cx="278983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从需求描述推出画面参数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系列图的一致性维持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冲突约束下的取舍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242815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Source Han Sans SC"/>
              </a:rPr>
              <a:t>两道设计，让分数经得起看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" y="4649723"/>
            <a:ext cx="5117439" cy="129844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7532" y="4567427"/>
            <a:ext cx="5117439" cy="12984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8680" y="4608575"/>
            <a:ext cx="5117439" cy="129844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3000" y="4882895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828031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逐条判定，必须引用原文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303519"/>
            <a:ext cx="456879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裁判要对每条要点标注命中与否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找不到原文支撑的，一律记未命中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6723" y="4649723"/>
            <a:ext cx="5117439" cy="129844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64427" y="4567427"/>
            <a:ext cx="5117439" cy="12984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05575" y="4608575"/>
            <a:ext cx="5117439" cy="129844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79895" y="4882895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2775" y="4828031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题面内置反注水探针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895" y="5303519"/>
            <a:ext cx="456879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「已充分测试」却给不出用例，会被识别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空话说得越漂亮，暴露得越明显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一个 Agent 往往不够，需要一支队伍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把合适的几个 Agent 按职能组队，嵌进你已有的流程，而不是让你迁就它们。</a:t>
            </a:r>
          </a:p>
        </p:txBody>
      </p:sp>
      <p:pic>
        <p:nvPicPr>
          <p:cNvPr id="9" name="Picture 8" descr="n04-team-fit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67712"/>
            <a:ext cx="6481687" cy="361768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57417" y="2235708"/>
            <a:ext cx="3606745" cy="13258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5121" y="2153412"/>
            <a:ext cx="3606745" cy="1325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16269" y="2194560"/>
            <a:ext cx="3606745" cy="13258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90589" y="246888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3469" y="2414016"/>
            <a:ext cx="305810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按职能组队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0589" y="2889504"/>
            <a:ext cx="3058105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谁负责拆解、谁执行、谁复核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分工与权限写进角色定义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57417" y="3689604"/>
            <a:ext cx="3606745" cy="13258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75121" y="3607308"/>
            <a:ext cx="3606745" cy="1325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16269" y="3648456"/>
            <a:ext cx="3606745" cy="13258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90589" y="3922776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3469" y="3867912"/>
            <a:ext cx="305810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嵌进原有工作流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0589" y="4343400"/>
            <a:ext cx="3058105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不同环节交给不同 Agent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空缺的环节仍由人来补位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让这支队伍真的能干活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分工、交接、留痕，以及人在关键处说了算。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四个职能，各自的边界写在代码里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谁能做什么、不能做什么、哪些动作必须人点头，都是程序读取的字段。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1914067" cy="704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提出需求、设定偏好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对上线与撤回拍板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465575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575303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14A39"/>
                </a:solidFill>
                <a:latin typeface="Source Han Sans SC"/>
              </a:rPr>
              <a:t>唯一放行权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73703" y="2217420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91407" y="2135124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32555" y="2176272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06875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9755" y="2395728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6875" y="2871216"/>
            <a:ext cx="1914067" cy="704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拆解任务与分发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传递上下文、追踪状态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06875" y="3465575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06875" y="3575303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E5C76"/>
                </a:solidFill>
                <a:latin typeface="Source Han Sans SC"/>
              </a:rPr>
              <a:t>不可绕过决策方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7579" y="2217420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55283" y="2135124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96431" y="2176272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0751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3631" y="2395728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出题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0751" y="2871216"/>
            <a:ext cx="1914067" cy="704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把岗位要求拆成考察点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多轮提问与追问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70751" y="3465575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0751" y="3575303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A6B52"/>
                </a:solidFill>
                <a:latin typeface="Source Han Sans SC"/>
              </a:rPr>
              <a:t>不参与打分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01455" y="2217420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19159" y="2135124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60307" y="2176272"/>
            <a:ext cx="2462707" cy="1874519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4627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17507" y="2395728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评分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4627" y="2871216"/>
            <a:ext cx="1914067" cy="704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多维度实测评分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重复测量与稳定性检查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34627" y="3465575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34627" y="3575303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不参与放行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4398264"/>
            <a:ext cx="215364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交接环节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1785" y="4398264"/>
            <a:ext cx="29899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传递什么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8086" y="4398264"/>
            <a:ext cx="4871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为什么这样设计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4709160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832" y="4809744"/>
            <a:ext cx="215364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决策 → 出题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1785" y="4809744"/>
            <a:ext cx="29899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岗位要求与偏好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8086" y="4809744"/>
            <a:ext cx="48717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出题必须对准真实需求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" y="503834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1832" y="5138928"/>
            <a:ext cx="215364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出题 → 评分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1785" y="5138928"/>
            <a:ext cx="29899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实测记录与考察点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8086" y="5138928"/>
            <a:ext cx="48717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只依据实际作答，不看来源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536752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1832" y="5468112"/>
            <a:ext cx="215364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评分 → 决策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41785" y="5468112"/>
            <a:ext cx="29899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分数、稳定性、原文证据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78086" y="5468112"/>
            <a:ext cx="48717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决策者拿到的是证据，不是结论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8680" y="569671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人不在流程之外，而在回路之上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高风险动作在人点头之前，真的执行不了——不是一句提示语。</a:t>
            </a:r>
          </a:p>
        </p:txBody>
      </p:sp>
      <p:pic>
        <p:nvPicPr>
          <p:cNvPr id="9" name="Picture 8" descr="n06-human-in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119" y="2194560"/>
            <a:ext cx="5174895" cy="28883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180844"/>
            <a:ext cx="4756722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098548"/>
            <a:ext cx="4756722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39696"/>
            <a:ext cx="4756722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1401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359152"/>
            <a:ext cx="42080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拦得住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34640"/>
            <a:ext cx="420808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判定为高风险，动作不执行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流程挂起，等人决定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人点放行，动作才真正发生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99916"/>
            <a:ext cx="4756722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817620"/>
            <a:ext cx="4756722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858768"/>
            <a:ext cx="4756722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4133088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4078224"/>
            <a:ext cx="42080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撤得回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53712"/>
            <a:ext cx="420808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已执行的动作按相反顺序撤销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某一条撤不掉会明确报出来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不假装「已完全回滚」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614416"/>
            <a:ext cx="4913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C2673F"/>
                </a:solidFill>
                <a:latin typeface="Source Han Sans SC"/>
              </a:rPr>
              <a:t>实测：判定「录用」后，台账里是 0 条记录——它没敢自己录用。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凭什么相信这个结论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先解决一个前提：让模型当裁判，裁判自己靠不靠谱。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同一份答案连打三次，分数常常不一样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所以我们不采信单次打分，而是用一整套办法压住噪声。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99132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16836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57984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32304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7744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重复测量，取严不取宽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52928"/>
            <a:ext cx="456879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同一份答案独立评多次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每一次都达标才算达标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有一次掉下来，就不算可靠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199132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4427" y="2116836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5575" y="2157984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9895" y="2432304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2775" y="237744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打飘了要能被发现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2852928"/>
            <a:ext cx="456879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检查多次评分之间的离散程度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波动过大就下调置信度并转人工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同时检查评分的一致性水平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945635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7532" y="3863339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904487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43000" y="4178807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4123943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抵抗常见偏见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99431"/>
            <a:ext cx="456879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每轮打乱维度顺序，避免顺序影响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明确要求不因回答长就给高分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评分锚点固定，减少主观漂移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945635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64427" y="3863339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5575" y="3904487"/>
            <a:ext cx="5117439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9895" y="4178807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775" y="4123943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分数来源必须标清楚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895" y="4599431"/>
            <a:ext cx="456879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真实裁判 / 部分降级 / 完全降级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降级产生的结论不进经验库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宁可标未评，也不填一个数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623559"/>
            <a:ext cx="10454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2673F"/>
                </a:solidFill>
                <a:latin typeface="Source Han Sans SC"/>
              </a:rPr>
              <a:t>我们只主张结论稳定，不主张结论正确——后者需要长期数据验证。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每一步都留得下、看得懂、追得回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执行轨迹按行业通用字段记录，可回放、可归因、可接入通用观测平台。</a:t>
            </a:r>
          </a:p>
        </p:txBody>
      </p:sp>
      <p:pic>
        <p:nvPicPr>
          <p:cNvPr id="9" name="Picture 8" descr="n08-evidence-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477" y="2249424"/>
            <a:ext cx="4913537" cy="2742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180844"/>
            <a:ext cx="5018080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098548"/>
            <a:ext cx="5018080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39696"/>
            <a:ext cx="5018080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14016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359152"/>
            <a:ext cx="446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记什么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34640"/>
            <a:ext cx="44694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哪个 Agent、调用了哪个能力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耗时、token 用量与成本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每一步的输入、输出与状态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99916"/>
            <a:ext cx="5018080" cy="157276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817620"/>
            <a:ext cx="5018080" cy="15727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858768"/>
            <a:ext cx="5018080" cy="157276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4133088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4078224"/>
            <a:ext cx="446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为什么这样记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53712"/>
            <a:ext cx="44694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用通用语义字段，不锁定观测平台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整条链路可原样回放复核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审批与撤回同样进流水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现在到哪了，以及往哪走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能跑、能验、能复现；也说清楚还没做到什么。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不是一张概念图，是能跑起来的东西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所有数字都可以用公开命令复现，验证报告由脚本生成。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59152"/>
            <a:ext cx="24352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514A39"/>
                </a:solidFill>
                <a:latin typeface="Inter"/>
              </a:rPr>
              <a:t>651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16352"/>
            <a:ext cx="24352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250"/>
                </a:solidFill>
                <a:latin typeface="Source Han Sans SC"/>
              </a:rPr>
              <a:t>前端自动化测试通过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284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0055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4169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1699" y="2359152"/>
            <a:ext cx="24352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514A39"/>
                </a:solidFill>
                <a:latin typeface="Inter"/>
              </a:rPr>
              <a:t>282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1699" y="2816352"/>
            <a:ext cx="24352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250"/>
                </a:solidFill>
                <a:latin typeface="Source Han Sans SC"/>
              </a:rPr>
              <a:t>服务端测试通过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357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471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4719" y="2359152"/>
            <a:ext cx="24352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514A39"/>
                </a:solidFill>
                <a:latin typeface="Inter"/>
              </a:rPr>
              <a:t>12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4719" y="2816352"/>
            <a:ext cx="24352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250"/>
                </a:solidFill>
                <a:latin typeface="Source Han Sans SC"/>
              </a:rPr>
              <a:t>真实工种题 × 工种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2888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4659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8773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739" y="2359152"/>
            <a:ext cx="24352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4A6B52"/>
                </a:solidFill>
                <a:latin typeface="Inter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739" y="2816352"/>
            <a:ext cx="24352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250"/>
                </a:solidFill>
                <a:latin typeface="Source Han Sans SC"/>
              </a:rPr>
              <a:t>类型与规范检查错误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" y="3570732"/>
            <a:ext cx="5117439" cy="19659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7532" y="3488436"/>
            <a:ext cx="5117439" cy="1965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3529584"/>
            <a:ext cx="5117439" cy="19659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43000" y="3803904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374904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已经能做的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224528"/>
            <a:ext cx="4568799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四职能协同的完整闭环可离线跑通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真实工种实测题与多维评分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人工审批与撤回、全链路留痕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可挂接外部标准工具服务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6723" y="3570732"/>
            <a:ext cx="5117439" cy="19659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64427" y="3488436"/>
            <a:ext cx="5117439" cy="1965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05575" y="3529584"/>
            <a:ext cx="5117439" cy="19659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79895" y="3803904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2775" y="374904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正在做的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9895" y="4224528"/>
            <a:ext cx="4568799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把评估层与执行层端到端打通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接入通用观测后端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扩充工种题库与真实任务样本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对外发布可复用的能力接口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我们还没做到什么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一个说不清自己边界的评估系统，本身就不值得信任。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49424"/>
            <a:ext cx="25718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9959" y="2249424"/>
            <a:ext cx="7589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实际情况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560320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660904"/>
            <a:ext cx="257182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稳 ≠ 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9959" y="2660904"/>
            <a:ext cx="758990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目前验证的是结论稳定，尚未验证它能预测真实表现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99923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099816"/>
            <a:ext cx="257182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重复测量的含义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959" y="3099816"/>
            <a:ext cx="758990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现在测的是裁判稳不稳，还不是 Agent 干活稳不稳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43814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538728"/>
            <a:ext cx="257182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样本规模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9959" y="3538728"/>
            <a:ext cx="758990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题库覆盖三类工种，尚未覆盖更多行业与长流程任务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87705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977640"/>
            <a:ext cx="257182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观测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9959" y="3977640"/>
            <a:ext cx="758990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通用字段已对齐，尚未接入观测后端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31596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4416552"/>
            <a:ext cx="257182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适用范围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9959" y="4416552"/>
            <a:ext cx="758990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只用一次、只有一个候选时，这套流程是额外开销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75488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28" y="4777740"/>
            <a:ext cx="10454335" cy="120700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7532" y="4695444"/>
            <a:ext cx="10454335" cy="120700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4736592"/>
            <a:ext cx="10454335" cy="120700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43000" y="501091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4956048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下一步最重要的一件事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31536"/>
            <a:ext cx="99056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把「准入时的契合度评分」与「上线后的真实表现」做相关性验证。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相关，就固化权重；不相关，就公开这个结果并重做维度体系。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开放与复用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开源的不是一个演示，是三个能单独取用的部件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任何做 Agent 评估的团队，都可以只拿走其中一个。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9659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965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9659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评估方法层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2789834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重复测量与稳定性检查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评分偏差与一致性审计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抗偏见的评分提示词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55701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666744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A6B52"/>
                </a:solidFill>
                <a:latin typeface="Source Han Sans SC"/>
              </a:rPr>
              <a:t>适用于任何模型当裁判的场景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67758" y="2217420"/>
            <a:ext cx="3338474" cy="19659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5462" y="2135124"/>
            <a:ext cx="3338474" cy="1965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26610" y="2176272"/>
            <a:ext cx="3338474" cy="19659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8381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能力注册内核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0930" y="2871216"/>
            <a:ext cx="2789834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可注册、可覆盖、可注销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同类能力可替换实现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与具体框架解耦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0930" y="355701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930" y="3666744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E5C76"/>
                </a:solidFill>
                <a:latin typeface="Source Han Sans SC"/>
              </a:rPr>
              <a:t>可移植到其他 Agent 框架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5688" y="2217420"/>
            <a:ext cx="3338474" cy="19659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43392" y="2135124"/>
            <a:ext cx="3338474" cy="1965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84540" y="2176272"/>
            <a:ext cx="3338474" cy="19659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174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观测投影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8860" y="2871216"/>
            <a:ext cx="2789834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自有轨迹 → 行业标准字段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纯函数、零依赖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可接任意兼容的观测后端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8860" y="355701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8860" y="3666744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不锁定观测供应商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" y="4398264"/>
            <a:ext cx="1944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开放项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4398264"/>
            <a:ext cx="82171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4709160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4809744"/>
            <a:ext cx="1944563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开源协议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4809744"/>
            <a:ext cx="82171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MIT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05663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5157216"/>
            <a:ext cx="1944563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接口契约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2699" y="5157216"/>
            <a:ext cx="82171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工具调用的参数结构、鉴权、错误约定与审计要求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540410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1832" y="5504688"/>
            <a:ext cx="1944563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第三方依赖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2699" y="5504688"/>
            <a:ext cx="82171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前端 React 生态、桌面端 Electron、服务端 FastAPI，均为开源协议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75157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团队介绍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请按官方要求填写：成员背景、分工、过往成果。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【成员一 · 角色】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2789834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学校 / 公司：【填写】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岗位 / 专业：【填写】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核心技能：【填写】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本项目分工：【填写】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【成员二 · 角色】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930" y="2871216"/>
            <a:ext cx="2789834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学校 / 公司：【填写】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岗位 / 专业：【填写】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核心技能：【填写】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本项目分工：【填写】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【成员三 · 角色】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8860" y="2871216"/>
            <a:ext cx="2789834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学校 / 公司：【填写】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岗位 / 专业：【填写】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核心技能：【填写】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本项目分工：【填写】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4489704"/>
            <a:ext cx="1944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项目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32699" y="4489704"/>
            <a:ext cx="82171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内容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4800600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4901184"/>
            <a:ext cx="1944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团队成果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32699" y="4901184"/>
            <a:ext cx="8217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【过往项目经历 / 获奖经历】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516636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266944"/>
            <a:ext cx="1944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作品合集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5266944"/>
            <a:ext cx="8217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【作品集或个人主页链接】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553212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5632704"/>
            <a:ext cx="1944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代码仓库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5632704"/>
            <a:ext cx="8217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【仓库地址】（MIT 开源）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89788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7527121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6B6250"/>
                </a:solidFill>
                <a:latin typeface="Source Han Sans SC"/>
              </a:rPr>
              <a:t>Agent 会越来越多。</a:t>
            </a:r>
          </a:p>
          <a:p>
            <a:pPr>
              <a:spcAft>
                <a:spcPts val="40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难的从来不是找到一个能用的，</a:t>
            </a:r>
          </a:p>
          <a:p>
            <a:pPr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而是找到那个真正合得来的。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434840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731803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250"/>
                </a:solidFill>
                <a:latin typeface="Source Han Sans SC"/>
              </a:rPr>
              <a:t>AgentCorp　|　MIT 开源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附录：评分维度对照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本页供评审按维度检索对应内容；现场讲述可跳过。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249424"/>
            <a:ext cx="29899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评分维度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8132" y="2249424"/>
            <a:ext cx="8991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权重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3566" y="2249424"/>
            <a:ext cx="6126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对应页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560320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660904"/>
            <a:ext cx="29899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场景价值与行业可复制性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8132" y="2660904"/>
            <a:ext cx="89912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3566" y="2660904"/>
            <a:ext cx="612629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03–05 页：选择困难 → 跑分失配 → 真实工作的样子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03580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136392"/>
            <a:ext cx="29899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多 Agent 协同与自主闭环能力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132" y="3136392"/>
            <a:ext cx="89912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3566" y="3136392"/>
            <a:ext cx="612629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09–10 页：四职能分工与交接、人在回路与撤回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51129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611880"/>
            <a:ext cx="29899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Skill 工程体系与生态复用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8132" y="3611880"/>
            <a:ext cx="89912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3566" y="3611880"/>
            <a:ext cx="612629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07 页：真实工种题与判定设计；第 15 页：可复用部件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98678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4087368"/>
            <a:ext cx="29899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工程落地与安全可审计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8132" y="4087368"/>
            <a:ext cx="89912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20%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3566" y="4087368"/>
            <a:ext cx="612629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11–13 页：裁判可靠性、全链路留痕、可复现证据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46227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4562856"/>
            <a:ext cx="29899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开放 / 开源贡献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8132" y="4562856"/>
            <a:ext cx="89912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3566" y="4562856"/>
            <a:ext cx="612629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15 页：三个可单独取用的部件与接口契约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493776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